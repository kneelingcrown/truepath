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Открытие, 30 секунд. True Path начинается с проверки новости, но мы развиваем продукт дальше: сохраняем основания, связываем исследования и помогаем возвращаться к важному. Сегодня покажем работающий учебный прототип и отдельно следующий этап. Не обещаем, что человек никогда ничего не забудет.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Даже хороший ответ легко теряется: человек не помнит основание, не замечает похожую ошибку в другой новости и снова начинает с нуля. Это продуктовая гипотеза, а не уже измеренная статистика пользователей. Наша цель — связать получение ответа с последующим пониманием.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Используем учебную новость о бесплатном транспорте. Ключевой вопрос — действует ли обещание для всех. Не требуется разоблачать новость целиком: нужно разнести отдельные утверждения, условия и неизвестное. Этот материал вымышленный, как и источники учебного исследования.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Упрощённая схема учебного исследования: общий заголовок проверяется по условиям конкретного пилота. На схеме показаны основания вывода, а не граф знаний пользователя. Сам факт наличия документа ещё не доказывает правильность всех интерпретаций. Текущий прототип строит граф из подготовленных событий.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Здесь начинается запланированное расширение. Новое исследование о другом обещании может напомнить прежний случай потери условий. Ассоциация переносит метод проверки, а не истинность вывода. Пользователь должен видеть почему предложена связь, её основания и возможность отказаться.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В планируемом цикле три разных слоя: архив оснований, личные связи и история добровольного воспроизведения. Предлагаем один короткий вопрос, затем возврат спустя время. Просмотр, лайк и время чтения не считаются доказательством усвоения. Педагогическую пользу ещё нужно измерить.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секунд. Разделяем два контура. Источники оцениваются по проверяемым эпизодам с основаниями, темой и датой, а не по мнению модели. Сначала улучшаем маршрут поиска и перепроверки; автоматические веса позже, после сравнительной оценки. Пользовательские интересы влияют на объяснение, но не достоверность.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Агент с инструментами может воспроизвести отдельные функции, и мы не заявляем обратное. Отличие True Path — постоянный продуктовый процесс: сохранение оснований, связанная память, пересмотр и добровольное усвоение. Сейчас реализован первый слой прототипа; полный цикл — цель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Экран — реальный Compose-рендер из репозитория, светлая версия интерфейса, не фотография телефона. Локально на коде 47f97e4 нами выполнены компиляция, 16 unit-тестов и Lint: 0 ошибок, 6 предупреждений. Эти результаты не подтверждают реальный фактчекинг или образовательную пользу. Память M1 пока только специфицирована. Скриншоты, присланные в чат, показывают тёмную тему, но не входят в экспорт этой сборки.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Возвращаемся к исходной идее. Мы хотим, чтобы пользователь мог проверить сообщение, понять ограничения и использовать изученный принцип в следующем случае. Ближайшие параллельные рубежи — реальная API-интеграция и локальный цикл памяти на учебных данных. После этого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Использовать при вопросах об устройстве. Сейчас JSON-история и учебный источник Flow событий; Room, миграции, экспорт и локальный индекс — проектируемая архитектура M1. Внешний API подключается напрямую из Android при допустимой клиентской авторизации. Ключи не встраиваются в APK. Сервер не разрабатываем.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Проверяемый эпизод содержит конкретное утверждение и основание расхождения. Жалоба пользователя или мнение модели не являются доказанным эпизодом. Учитываем тему, период, объём и смещение выборки. Принятый факт не выводится из репутации. Автоматические веса — M2 после независимой проверки и с откатом политики.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заявляем доказанную образовательную эффективность. Сначала измеряем работоспособность: ссылки на основания, отсутствие дублей, миграции, удаление. Затем — полезность связей и перенос знания с пользователями. Для будущих политик источников сравниваем точность с базовым вариантом на независимых случаях, фиксируя стоимость и задержку.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01 / ИДЕЯ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234440"/>
            <a:ext cx="9144000" cy="1131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92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F2F1E8"/>
                </a:solidFill>
                <a:latin typeface="DejaVu Serif"/>
              </a:defRPr>
            </a:pPr>
            <a:r>
              <a:t>True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95728"/>
            <a:ext cx="9875520" cy="1220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445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AFD5B8"/>
                </a:solidFill>
                <a:latin typeface="DejaVu Serif"/>
              </a:defRPr>
            </a:pPr>
            <a:r>
              <a:t>Понимание, которое</a:t>
            </a:r>
          </a:p>
          <a:p>
            <a:pPr>
              <a:lnSpc>
                <a:spcPts val="4445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AFD5B8"/>
                </a:solidFill>
                <a:latin typeface="DejaVu Serif"/>
              </a:defRPr>
            </a:pPr>
            <a:r>
              <a:t>накапливается.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4041648"/>
            <a:ext cx="10515600" cy="4328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2F1E8"/>
                </a:solidFill>
                <a:latin typeface="DejaVu Sans"/>
              </a:defRPr>
            </a:pPr>
            <a:r>
              <a:t>От отдельной новости — к личной системе знаний.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102352"/>
            <a:ext cx="6949440" cy="59436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658368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A4B3A7"/>
                </a:solidFill>
                <a:latin typeface="DejaVu Sans"/>
              </a:defRPr>
            </a:pPr>
            <a:r>
              <a:t>Android-прототип / Память и адаптация — следующий этап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02 / ПРОБЛЕМА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Ответ получен. Что осталось через неделю?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7004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Контекст потерян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14800"/>
            <a:ext cx="3017520" cy="57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Сохранили вывод,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но потеряли его основания.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46888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67004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10896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Связь не замечена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4114800"/>
            <a:ext cx="30175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Похожая ошибка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рассуждения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выглядит новой ситуацией.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46888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67004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108960"/>
            <a:ext cx="3017520" cy="839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Знание не</a:t>
            </a:r>
          </a:p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закрепилось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114800"/>
            <a:ext cx="3017520" cy="57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Прочитать и согласиться —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ещё не значит вспомнить.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86400"/>
            <a:ext cx="10698480" cy="449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16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AFD5B8"/>
                </a:solidFill>
                <a:latin typeface="DejaVu Sans"/>
              </a:defRPr>
            </a:pPr>
            <a:r>
              <a:t>Задача продукта — сократить путь от ответа к пониманию.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03 / СЦЕНАРИЙ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«В городе запускают бесплатный транспорт»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23160"/>
            <a:ext cx="6675120" cy="21488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0904"/>
            <a:ext cx="612648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FD5B8"/>
                </a:solidFill>
                <a:latin typeface="DejaVu Sans"/>
              </a:defRPr>
            </a:pPr>
            <a:r>
              <a:t>ВОПРОС ПОЛЬЗОВАТЕЛЯ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5943600" cy="1066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F2F1E8"/>
                </a:solidFill>
                <a:latin typeface="DejaVu Serif"/>
              </a:defRPr>
            </a:pPr>
            <a:r>
              <a:t>Можно ли завтра</a:t>
            </a:r>
          </a:p>
          <a:p>
            <a:pPr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F2F1E8"/>
                </a:solidFill>
                <a:latin typeface="DejaVu Serif"/>
              </a:defRPr>
            </a:pPr>
            <a:r>
              <a:t>не покупать билет?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33472"/>
            <a:ext cx="3703320" cy="449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16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AFD5B8"/>
                </a:solidFill>
                <a:latin typeface="DejaVu Serif"/>
              </a:defRPr>
            </a:pPr>
            <a:r>
              <a:t>Проверяем отдельно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46120"/>
            <a:ext cx="3703320" cy="163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Где действует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предложение?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Кто может участвовать?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Когда начинается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программа?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303520"/>
            <a:ext cx="107899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4B3A7"/>
                </a:solidFill>
                <a:latin typeface="DejaVu Sans"/>
              </a:defRPr>
            </a:pPr>
            <a:r>
              <a:t>Учебный сюжет. Не сообщение о действующей транспортной программе.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04 / РАБОТАЮЩИЙ ПРИНЦИП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Вывод можно разобрать до основания.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3063240" cy="1234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32888"/>
            <a:ext cx="2734056" cy="367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7B36A"/>
                </a:solidFill>
                <a:latin typeface="DejaVu Sans"/>
              </a:defRPr>
            </a:pPr>
            <a:r>
              <a:t>Утверждение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71800"/>
            <a:ext cx="2734056" cy="546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2F1E8"/>
                </a:solidFill>
                <a:latin typeface="DejaVu Sans"/>
              </a:defRPr>
            </a:pPr>
            <a:r>
              <a:t>«Проезд бесплатный для</a:t>
            </a:r>
          </a:p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2F1E8"/>
                </a:solidFill>
                <a:latin typeface="DejaVu Sans"/>
              </a:defRPr>
            </a:pPr>
            <a:r>
              <a:t>всех»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377440"/>
            <a:ext cx="3063240" cy="1234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2532888"/>
            <a:ext cx="2734056" cy="367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AFD5B8"/>
                </a:solidFill>
                <a:latin typeface="DejaVu Sans"/>
              </a:defRPr>
            </a:pPr>
            <a:r>
              <a:t>Условия маршрута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971800"/>
            <a:ext cx="2734056" cy="546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2F1E8"/>
                </a:solidFill>
                <a:latin typeface="DejaVu Sans"/>
              </a:defRPr>
            </a:pPr>
            <a:r>
              <a:t>Пилот: ограничения и</a:t>
            </a:r>
          </a:p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2F1E8"/>
                </a:solidFill>
                <a:latin typeface="DejaVu Sans"/>
              </a:defRPr>
            </a:pPr>
            <a:r>
              <a:t>регистрация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377440"/>
            <a:ext cx="3063240" cy="1234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2532888"/>
            <a:ext cx="2734056" cy="367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AFD5B8"/>
                </a:solidFill>
                <a:latin typeface="DejaVu Sans"/>
              </a:defRPr>
            </a:pPr>
            <a:r>
              <a:t>Доказательство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2971800"/>
            <a:ext cx="2734056" cy="546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2F1E8"/>
                </a:solidFill>
                <a:latin typeface="DejaVu Sans"/>
              </a:defRPr>
            </a:pPr>
            <a:r>
              <a:t>Бесплатно в пределах</a:t>
            </a:r>
          </a:p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2F1E8"/>
                </a:solidFill>
                <a:latin typeface="DejaVu Sans"/>
              </a:defRPr>
            </a:pPr>
            <a:r>
              <a:t>пилота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94760" y="2990088"/>
            <a:ext cx="777240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35240" y="2990088"/>
            <a:ext cx="777240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9048" y="3611880"/>
            <a:ext cx="0" cy="50292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103120" y="4114800"/>
            <a:ext cx="7955279" cy="1280160"/>
          </a:xfrm>
          <a:prstGeom prst="roundRect">
            <a:avLst/>
          </a:prstGeom>
          <a:solidFill>
            <a:srgbClr val="192A21"/>
          </a:solidFill>
          <a:ln>
            <a:solidFill>
              <a:srgbClr val="D7B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4315968"/>
            <a:ext cx="740664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7B36A"/>
                </a:solidFill>
                <a:latin typeface="DejaVu Sans"/>
              </a:defRPr>
            </a:pPr>
            <a:r>
              <a:t>НЕДОСТАТОЧНО ОСНОВАНИЙ ДЛЯ ОБЩЕГО ОБЕЩАНИЯ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59152" y="4700016"/>
            <a:ext cx="7406640" cy="8067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16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2F1E8"/>
                </a:solidFill>
                <a:latin typeface="DejaVu Serif"/>
              </a:defRPr>
            </a:pPr>
            <a:r>
              <a:t>Условия пилота нельзя переносить на весь</a:t>
            </a:r>
          </a:p>
          <a:p>
            <a:pPr>
              <a:lnSpc>
                <a:spcPts val="2816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2F1E8"/>
                </a:solidFill>
                <a:latin typeface="DejaVu Serif"/>
              </a:defRPr>
            </a:pPr>
            <a:r>
              <a:t>город.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15584"/>
            <a:ext cx="1060704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A4B3A7"/>
                </a:solidFill>
                <a:latin typeface="DejaVu Sans"/>
              </a:defRPr>
            </a:pPr>
            <a:r>
              <a:t>Схема учебного сценария · В приложении граф появляется постепенно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05 / ЛИЧНАЯ ПАМЯТЬ — ПЛАН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Следующая новость уже не с нуля.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11680"/>
            <a:ext cx="10698480" cy="335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ПРОЕКТИРУЕМЫЙ СЦЕНАРИЙ · ещё не реализован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43200"/>
            <a:ext cx="3977639" cy="160020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347472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A4B3A7"/>
                </a:solidFill>
                <a:latin typeface="DejaVu Sans"/>
              </a:defRPr>
            </a:pPr>
            <a:r>
              <a:t>ВЫ УЖЕ РАЗБИРАЛИ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02152"/>
            <a:ext cx="3474720" cy="12131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Бесплатный</a:t>
            </a:r>
          </a:p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транспорт</a:t>
            </a:r>
          </a:p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в пределах пилота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2743200"/>
            <a:ext cx="3977639" cy="160020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971800"/>
            <a:ext cx="347472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A4B3A7"/>
                </a:solidFill>
                <a:latin typeface="DejaVu Sans"/>
              </a:defRPr>
            </a:pPr>
            <a:r>
              <a:t>НОВОЕ ИССЛЕДОВАНИЕ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502152"/>
            <a:ext cx="3474720" cy="839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«Льгота доступна</a:t>
            </a:r>
          </a:p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всем участникам»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09160" y="3520440"/>
            <a:ext cx="2788919" cy="0"/>
          </a:xfrm>
          <a:prstGeom prst="line">
            <a:avLst/>
          </a:prstGeom>
          <a:ln w="25400">
            <a:solidFill>
              <a:srgbClr val="AFD5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19472" y="3749039"/>
            <a:ext cx="2377440" cy="546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AFD5B8"/>
                </a:solidFill>
                <a:latin typeface="DejaVu Sans"/>
              </a:defRPr>
            </a:pPr>
            <a:r>
              <a:t>Проверить</a:t>
            </a:r>
          </a:p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AFD5B8"/>
                </a:solidFill>
                <a:latin typeface="DejaVu Sans"/>
              </a:defRPr>
            </a:pPr>
            <a:r>
              <a:t>область действия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66360"/>
            <a:ext cx="1069848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AFD5B8"/>
                </a:solidFill>
                <a:latin typeface="DejaVu Serif"/>
              </a:defRPr>
            </a:pPr>
            <a:r>
              <a:t>Общая стратегия проверки. Не автоматическое подтверждение.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06 / УСВОЕНИЕ — ПЛАН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Сохранить — ещё не значит запомнить.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11680"/>
            <a:ext cx="10698480" cy="335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СЛЕДУЮЩИЙ ЭТАП · добровольное закрепление знаний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ПАМЯТЬ ИССЛЕДОВАНИЙ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На чём основано?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3017520" cy="57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Материалы, цитаты, версии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и история изменения вывода.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ГРАФ ПОНИМАНИЯ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20040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С чем связано?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4206240"/>
            <a:ext cx="3017520" cy="57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Понятия и объяснимые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ассоциации между работами.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ИСТОРИЯ УСВОЕНИЯ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320040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Смогу применить?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4206240"/>
            <a:ext cx="3017520" cy="57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Один вопрос, попытка ответа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и возвращение спустя время.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04688"/>
            <a:ext cx="10698480" cy="400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AFD5B8"/>
                </a:solidFill>
                <a:latin typeface="DejaVu Sans"/>
              </a:defRPr>
            </a:pPr>
            <a:r>
              <a:t>Вопрос: «Какие условия нужно уточнить до принятия решения?»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07 / АДАПТАЦИЯ — ПЛАН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Система учитывает опыт. По двум правилам.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5212080" cy="278892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2331720"/>
            <a:ext cx="5212080" cy="278892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15184"/>
            <a:ext cx="4663440" cy="497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AFD5B8"/>
                </a:solidFill>
                <a:latin typeface="DejaVu Serif"/>
              </a:defRPr>
            </a:pPr>
            <a:r>
              <a:t>Качество исследования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46704"/>
            <a:ext cx="4617720" cy="1261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2F1E8"/>
                </a:solidFill>
                <a:latin typeface="DejaVu Sans"/>
              </a:defRPr>
            </a:pPr>
            <a:r>
              <a:t>Эпизоды с проверяемыми</a:t>
            </a:r>
          </a:p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2F1E8"/>
                </a:solidFill>
                <a:latin typeface="DejaVu Sans"/>
              </a:defRPr>
            </a:pPr>
            <a:r>
              <a:t>основаниями</a:t>
            </a:r>
          </a:p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2F1E8"/>
                </a:solidFill>
                <a:latin typeface="DejaVu Sans"/>
              </a:defRPr>
            </a:pPr>
            <a:r>
              <a:t>Происхождение и независимость</a:t>
            </a:r>
          </a:p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2F1E8"/>
                </a:solidFill>
                <a:latin typeface="DejaVu Sans"/>
              </a:defRPr>
            </a:pPr>
            <a:r>
              <a:t>Исправления и актуальность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15184"/>
            <a:ext cx="4663440" cy="497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AFD5B8"/>
                </a:solidFill>
                <a:latin typeface="DejaVu Serif"/>
              </a:defRPr>
            </a:pPr>
            <a:r>
              <a:t>Польза для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346704"/>
            <a:ext cx="4617720" cy="9692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2F1E8"/>
                </a:solidFill>
                <a:latin typeface="DejaVu Sans"/>
              </a:defRPr>
            </a:pPr>
            <a:r>
              <a:t>Знакомые понятия и ассоциации</a:t>
            </a:r>
          </a:p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2F1E8"/>
                </a:solidFill>
                <a:latin typeface="DejaVu Sans"/>
              </a:defRPr>
            </a:pPr>
            <a:r>
              <a:t>Предпочтения объяснения</a:t>
            </a:r>
          </a:p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2F1E8"/>
                </a:solidFill>
                <a:latin typeface="DejaVu Sans"/>
              </a:defRPr>
            </a:pPr>
            <a:r>
              <a:t>Результаты воспроизведения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98480" cy="4815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72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7B36A"/>
                </a:solidFill>
                <a:latin typeface="DejaVu Serif"/>
              </a:defRPr>
            </a:pPr>
            <a:r>
              <a:t>Интерес пользователя не определяет достоверность.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08 / ОТЛИЧИЕ ПРОДУКТА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Зачем приложение, если есть AI-агент?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754880" cy="497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A4B3A7"/>
                </a:solidFill>
                <a:latin typeface="DejaVu Serif"/>
              </a:defRPr>
            </a:pPr>
            <a:r>
              <a:t>Отдельный запрос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468880"/>
            <a:ext cx="4754880" cy="497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AFD5B8"/>
                </a:solidFill>
                <a:latin typeface="DejaVu Serif"/>
              </a:defRPr>
            </a:pPr>
            <a:r>
              <a:t>Постоянный цикл True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4709160" cy="351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2F1E8"/>
                </a:solidFill>
                <a:latin typeface="DejaVu Sans"/>
              </a:defRPr>
            </a:pPr>
            <a:r>
              <a:t>Получить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246120"/>
            <a:ext cx="4846320" cy="351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2F1E8"/>
                </a:solidFill>
                <a:latin typeface="DejaVu Sans"/>
              </a:defRPr>
            </a:pPr>
            <a:r>
              <a:t>Сохранить основания и версии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3794759"/>
            <a:ext cx="10515600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3977639"/>
            <a:ext cx="4709160" cy="351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2F1E8"/>
                </a:solidFill>
                <a:latin typeface="DejaVu Sans"/>
              </a:defRPr>
            </a:pPr>
            <a:r>
              <a:t>Разобраться в одном вопросе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977639"/>
            <a:ext cx="4846320" cy="351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2F1E8"/>
                </a:solidFill>
                <a:latin typeface="DejaVu Sans"/>
              </a:defRPr>
            </a:pPr>
            <a:r>
              <a:t>Связать исследования со временем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4526279"/>
            <a:ext cx="10515600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4709160"/>
            <a:ext cx="4709160" cy="351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2F1E8"/>
                </a:solidFill>
                <a:latin typeface="DejaVu Sans"/>
              </a:defRPr>
            </a:pPr>
            <a:r>
              <a:t>Вернуться к разговору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709160"/>
            <a:ext cx="4846320" cy="351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2F1E8"/>
                </a:solidFill>
                <a:latin typeface="DejaVu Sans"/>
              </a:defRPr>
            </a:pPr>
            <a:r>
              <a:t>Вернуться к знанию и проверить усвоение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5257800"/>
            <a:ext cx="10515600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5669280"/>
            <a:ext cx="10607040" cy="400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AFD5B8"/>
                </a:solidFill>
                <a:latin typeface="DejaVu Sans"/>
              </a:defRPr>
            </a:pPr>
            <a:r>
              <a:t>Ценность накапливается в истории пользователя и качестве процесса.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09 / ФАКТИЧЕСКИЙ СТАТУС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Прототип работает. Границы обозначены.</a:t>
            </a:r>
          </a:p>
        </p:txBody>
      </p:sp>
      <p:pic>
        <p:nvPicPr>
          <p:cNvPr id="9" name="Picture 8" descr="ru.truepath.app.ui_DesignSnapshotTest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94560"/>
            <a:ext cx="1791538" cy="3886200"/>
          </a:xfrm>
          <a:prstGeom prst="rect">
            <a:avLst/>
          </a:prstGeom>
        </p:spPr>
      </p:pic>
      <p:pic>
        <p:nvPicPr>
          <p:cNvPr id="10" name="Picture 9" descr="ru.truepath.app.ui_DesignSnapshotTest_graphConclu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2194560"/>
            <a:ext cx="1791538" cy="3886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0912" y="2395728"/>
            <a:ext cx="630936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FD5B8"/>
                </a:solidFill>
                <a:latin typeface="DejaVu Sans"/>
              </a:defRPr>
            </a:pPr>
            <a:r>
              <a:t>ПРОВЕРЕНО ЛОКАЛЬНО · 47f97e4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10912" y="2852928"/>
            <a:ext cx="6309360" cy="5628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2900" b="0">
                <a:solidFill>
                  <a:srgbClr val="F2F1E8"/>
                </a:solidFill>
                <a:latin typeface="DejaVu Serif"/>
              </a:defRPr>
            </a:pPr>
            <a:r>
              <a:t>16 тестов · 0 ошибок Lint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3566160"/>
            <a:ext cx="6263640" cy="6441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2F1E8"/>
                </a:solidFill>
                <a:latin typeface="DejaVu Sans"/>
              </a:defRPr>
            </a:pPr>
            <a:r>
              <a:t>Компиляция успешна. Lint: 6 предупреждений.</a:t>
            </a:r>
          </a:p>
          <a:p>
            <a:pPr>
              <a:lnSpc>
                <a:spcPts val="2176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2F1E8"/>
                </a:solidFill>
                <a:latin typeface="DejaVu Sans"/>
              </a:defRPr>
            </a:pPr>
            <a:r>
              <a:t>Лента, потоковый учебный граф и история.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4617720"/>
            <a:ext cx="626364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7B36A"/>
                </a:solidFill>
                <a:latin typeface="DejaVu Sans"/>
              </a:defRPr>
            </a:pPr>
            <a:r>
              <a:t>СЛЕДУЮЩИЕ ЭТАПЫ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5010912"/>
            <a:ext cx="6217920" cy="709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Реальные API · постоянная память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Ассоциации · усвоение · адаптация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5303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A4B3A7"/>
                </a:solidFill>
                <a:latin typeface="DejaVu Sans"/>
              </a:defRPr>
            </a:pPr>
            <a:r>
              <a:t>Снимки Compose / Paparazzi из репозитория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10 / ЗАВЕРШЕНИЕ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1458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381"/>
              </a:lnSpc>
              <a:spcBef>
                <a:spcPts val="0"/>
              </a:spcBef>
              <a:spcAft>
                <a:spcPts val="0"/>
              </a:spcAft>
              <a:defRPr sz="4600" b="0">
                <a:solidFill>
                  <a:srgbClr val="AFD5B8"/>
                </a:solidFill>
                <a:latin typeface="DejaVu Serif"/>
              </a:defRPr>
            </a:pPr>
            <a:r>
              <a:t>Следующая новость</a:t>
            </a:r>
          </a:p>
          <a:p>
            <a:pPr>
              <a:lnSpc>
                <a:spcPts val="5381"/>
              </a:lnSpc>
              <a:spcBef>
                <a:spcPts val="0"/>
              </a:spcBef>
              <a:spcAft>
                <a:spcPts val="0"/>
              </a:spcAft>
              <a:defRPr sz="4600" b="0">
                <a:solidFill>
                  <a:srgbClr val="AFD5B8"/>
                </a:solidFill>
                <a:latin typeface="DejaVu Serif"/>
              </a:defRPr>
            </a:pPr>
            <a:r>
              <a:t>становится понятнее.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29000"/>
            <a:ext cx="10515600" cy="1408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F2F1E8"/>
                </a:solidFill>
                <a:latin typeface="DejaVu Sans"/>
              </a:defRPr>
            </a:pPr>
            <a:r>
              <a:t>Проверить информацию.</a:t>
            </a:r>
          </a:p>
          <a:p>
            <a:pPr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F2F1E8"/>
                </a:solidFill>
                <a:latin typeface="DejaVu Sans"/>
              </a:defRPr>
            </a:pPr>
            <a:r>
              <a:t>Сохранить основания.</a:t>
            </a:r>
          </a:p>
          <a:p>
            <a:pPr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F2F1E8"/>
                </a:solidFill>
                <a:latin typeface="DejaVu Sans"/>
              </a:defRPr>
            </a:pPr>
            <a:r>
              <a:t>Связать новое с тем, что уже знаешь.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4572000" cy="5628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2900" b="0">
                <a:solidFill>
                  <a:srgbClr val="F2F1E8"/>
                </a:solidFill>
                <a:latin typeface="DejaVu Serif"/>
              </a:defRPr>
            </a:pPr>
            <a:r>
              <a:t>True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5669280"/>
            <a:ext cx="3566160" cy="351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A4B3A7"/>
                </a:solidFill>
                <a:latin typeface="DejaVu Sans"/>
              </a:defRPr>
            </a:pPr>
            <a:r>
              <a:t>Вопросы и обсуждение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ЗАПАСНОЙ / АРХИТЕКТУРА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Постоянная память — данные, а не кэш.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ANDROID / 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Compose +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30175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Учебный источник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Редуктор событий ·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JSON-история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ПАМЯТЬ / 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20040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Room + filesDir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4206240"/>
            <a:ext cx="30175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Миграции · версии · экспорт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Поиск связей · попытки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усвоения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ИНТЕГРАЦИЯ / ПЛАН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20040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Внешние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206240"/>
            <a:ext cx="30175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Асинхронные задачи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Источники · события ·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восстановление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96128"/>
            <a:ext cx="10698480" cy="367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AFD5B8"/>
                </a:solidFill>
                <a:latin typeface="DejaVu Sans"/>
              </a:defRPr>
            </a:pPr>
            <a:r>
              <a:t>Очистка кэша ≠ удаление базы. Удаление приложения требует резервной копии.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ЗАПАСНОЙ / КАЧЕСТВО ИСТОЧНИКОВ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Источник ошибся? Сначала — основание.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10515600" cy="871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72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AFD5B8"/>
                </a:solidFill>
                <a:latin typeface="DejaVu Serif"/>
              </a:defRPr>
            </a:pPr>
            <a:r>
              <a:t>Публикация → проверяемый эпизод → проверка →</a:t>
            </a:r>
          </a:p>
          <a:p>
            <a:pPr>
              <a:lnSpc>
                <a:spcPts val="3072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AFD5B8"/>
                </a:solidFill>
                <a:latin typeface="DejaVu Serif"/>
              </a:defRPr>
            </a:pPr>
            <a:r>
              <a:t>корректировка поиска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48463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Храним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58768"/>
            <a:ext cx="4846320" cy="1018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Утверждение и цитату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Тему, дату и первоисточник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Исход проверки и исправления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48463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D7B36A"/>
                </a:solidFill>
                <a:latin typeface="DejaVu Serif"/>
              </a:defRPr>
            </a:pPr>
            <a:r>
              <a:t>Не делаем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858768"/>
            <a:ext cx="4846320" cy="1326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Глобальный «процент правды»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Штраф за несогласие пользователя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Самоподтверждение рейтинга</a:t>
            </a:r>
          </a:p>
          <a:p>
            <a:pPr>
              <a:lnSpc>
                <a:spcPts val="243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2F1E8"/>
                </a:solidFill>
                <a:latin typeface="DejaVu Sans"/>
              </a:defRPr>
            </a:pPr>
            <a:r>
              <a:t>моделью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367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A4B3A7"/>
                </a:solidFill>
                <a:latin typeface="DejaVu Sans"/>
              </a:defRPr>
            </a:pPr>
            <a:r>
              <a:t>Журнал эпизодов — M1. Автоматические веса — после оценки качества.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74320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FD5B8"/>
                </a:solidFill>
                <a:latin typeface="DejaVu Sans"/>
              </a:defRPr>
            </a:pPr>
            <a:r>
              <a:t>TRUE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56032"/>
            <a:ext cx="512064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8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4B3A7"/>
                </a:solidFill>
                <a:latin typeface="DejaVu Sans"/>
              </a:defRPr>
            </a:pPr>
            <a:r>
              <a:t>ЗАПАСНОЙ / ПРОВЕРКА ЦЕННОСТИ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694944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6437376"/>
            <a:ext cx="11000232" cy="0"/>
          </a:xfrm>
          <a:prstGeom prst="line">
            <a:avLst/>
          </a:prstGeom>
          <a:ln w="15240">
            <a:solidFill>
              <a:srgbClr val="365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6537960"/>
            <a:ext cx="8229600" cy="221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24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A4B3A7"/>
                </a:solidFill>
                <a:latin typeface="DejaVu Sans"/>
              </a:defRPr>
            </a:pPr>
            <a:r>
              <a:t>ПРОВЕРИТЬ / ПОНЯТЬ / СВЯЗАТЬ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10528"/>
            <a:ext cx="502920" cy="270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D5B8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32688"/>
            <a:ext cx="10972800" cy="588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9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2F1E8"/>
                </a:solidFill>
                <a:latin typeface="DejaVu Serif"/>
              </a:defRPr>
            </a:pPr>
            <a:r>
              <a:t>Доказывать пользу, а не считать узлы.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ПРОВЕРЯЕМОСТЬ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3017520" cy="839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Основания</a:t>
            </a:r>
          </a:p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доступны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3017520" cy="57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Версии и исправления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Миграции без потерь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ПОЛЕЗНОСТЬ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200400"/>
            <a:ext cx="3017520" cy="465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Связь помогает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4206240"/>
            <a:ext cx="30175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Принятие и причины отказа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Воспроизведение спустя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время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560320"/>
            <a:ext cx="3474720" cy="2377440"/>
          </a:xfrm>
          <a:prstGeom prst="roundRect">
            <a:avLst/>
          </a:prstGeom>
          <a:solidFill>
            <a:srgbClr val="19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761488"/>
            <a:ext cx="3017520" cy="30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FD5B8"/>
                </a:solidFill>
                <a:latin typeface="DejaVu Sans"/>
              </a:defRPr>
            </a:pPr>
            <a:r>
              <a:t>КАЧЕСТВО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200400"/>
            <a:ext cx="3017520" cy="839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Лучше базовой</a:t>
            </a:r>
          </a:p>
          <a:p>
            <a:pPr>
              <a:lnSpc>
                <a:spcPts val="2944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2F1E8"/>
                </a:solidFill>
                <a:latin typeface="DejaVu Serif"/>
              </a:defRPr>
            </a:pPr>
            <a:r>
              <a:t>политики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206240"/>
            <a:ext cx="30175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Независимые случаи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Ошибки · стоимость ·</a:t>
            </a:r>
          </a:p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4B3A7"/>
                </a:solidFill>
                <a:latin typeface="DejaVu Sans"/>
              </a:defRPr>
            </a:pPr>
            <a:r>
              <a:t>задержка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05272"/>
            <a:ext cx="106984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FD5B8"/>
                </a:solidFill>
                <a:latin typeface="DejaVu Sans"/>
              </a:defRPr>
            </a:pPr>
            <a:r>
              <a:t>Число узлов и уверенность модели сами по себе не означают качество.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True Path — понимание, которое накапливается</dc:title>
  <dc:subject/>
  <dc:creator>True Path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