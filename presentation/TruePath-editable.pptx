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секунд. True Path — Android-прототип исследования информации. Мы начинаем с проверяемых оснований и развиваем его в личную систему знаний. Сейчас работаем на учебном потоке; память и адаптация — следующий этап.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AI-агент уже умеет исследовать вопрос. Мы не заявляем, что это невозможно повторить промптом. Наша продуктовая гипотеза — связать получение ответа с сохранением оснований и последующим пониманием. Эффект на память ещё нужно измерить.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Все материалы этого сюжета вымышлены. Новость обещает бесплатный транспорт, но человек хочет знать, можно ли не покупать билет завтра. Нужно проверить область действия, участников и сроки. Недостаточно поставить всей новости одну метку «правда».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Это упрощённая схема учебной проверки, не снимок приложения. Связь ведёт к конкретному условию и документу. Условия пилота нельзя переносить на весь город. В приложении узлы постепенно приходят из подготовленного потока; реальный API пока не подключён.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Показаны реальные Compose-эталоны из репозитория: светлая версия интерфейса. Они не являются фотографиями телефона и не заменяют device-проверку. Учебная лента запускает потоковый граф, а результат сохраняется в истории. В чат также предоставлены более новые тёмные экраны; их оригиналы недоступны в файловом экспорте.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секунд. Эта функция запланирована, а не реализована. Новое исследование о льготе может напомнить прежнее исследование о транспорте. Общим является способ проверки области действия, не истинность двух выводов. Пользователь видит основания, принимает или отклоняет ассоциацию.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В планируемой системе хранятся основания, личные связи и попытки воспроизведения. Пользователь добровольно отвечает на один вопрос и может вернуться к нему позже. Просмотр или лайк не означают знания. Не обещаем идеальной памяти или доказанного педагогического эффекта.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 секунд. Это два независимых контура. Проверяемые эпизоды источников помогают корректировать маршрут поиска. Интересы и попытки воспроизведения помогают объяснять. Мнение модели или жалоба не являются доказанной ошибкой источника. Журнал — первый этап; автоматические веса только после оценки качества и с откатом.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Проверяемый код 47f97e4: нами локально выполнены компиляция, 16 unit-тестов и Lint с нулём ошибок и шестью предупреждениями. Это не подтверждает реальный API, жесты на устройстве или усвоение. Справа показаны следующие этапы. Перед защитой обновить показатели по финальной версии.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True Path начинается с проверки информации. Полный продуктовый цикл должен сохранять основания, связывать новые исследования с прежними и поддерживать добровольное усвоение. Ближайшие рубежи — реальная интеграция и локальный сценарий памяти. Готовы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Сейчас: Compose, Flow событий и JSON. План M1: Room, постоянные файлы, миграции и экспорт. Обработка на внешних API напрямую из Android при допустимой авторизации. Сервер не разрабатываем; API-ключи не встраиваем в APK. Память локальна, для внешнего вызова берём только нужный контекст.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Проверяемый эпизод включает утверждение, основание, дату, тему и исход проверки. Учитываем объём и смещение выборки, независимость источников и исправления. Без доказательства модель не штрафует источник. Автоматические веса остаются этапом M2 после независимого сравнения с базовой политикой.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Образовательная эффективность пока не измерена. Функциональные проверки отдельно от полезности. Для полезности проверяем принятие и причины отказа от связей, воспроизведение спустя время и перенос на новый пример. Для адаптивной политики — независимые случаи, ошибки, стоимость и задержка. Количество узлов и уверенность модели не показатели истины.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11261D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826817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657468"/>
                </a:solidFill>
                <a:latin typeface="Liberation Sans"/>
              </a:defRPr>
            </a:pPr>
            <a:r>
              <a:t>01  /  Идея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57468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11261D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499616"/>
            <a:ext cx="6267944" cy="1682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70"/>
              </a:lnSpc>
              <a:spcBef>
                <a:spcPts val="0"/>
              </a:spcBef>
              <a:spcAft>
                <a:spcPts val="0"/>
              </a:spcAft>
              <a:defRPr sz="12383" b="0" i="0">
                <a:solidFill>
                  <a:srgbClr val="11261D"/>
                </a:solidFill>
                <a:latin typeface="Liberation Serif"/>
              </a:defRPr>
            </a:pPr>
            <a:r>
              <a:t>True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566160"/>
            <a:ext cx="6175329" cy="5577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51"/>
              </a:lnSpc>
              <a:spcBef>
                <a:spcPts val="0"/>
              </a:spcBef>
              <a:spcAft>
                <a:spcPts val="0"/>
              </a:spcAft>
              <a:defRPr sz="3528" b="0" i="0">
                <a:solidFill>
                  <a:srgbClr val="214E3A"/>
                </a:solidFill>
                <a:latin typeface="Liberation Sans"/>
              </a:defRPr>
            </a:pPr>
            <a:r>
              <a:t>Проверить. Понять. Связать.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376672"/>
            <a:ext cx="3651599" cy="730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2304" b="0" i="0">
                <a:solidFill>
                  <a:srgbClr val="657468"/>
                </a:solidFill>
                <a:latin typeface="Liberation Sans"/>
              </a:defRPr>
            </a:pPr>
            <a:r>
              <a:t>Из отдельной новости —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2304" b="0" i="0">
                <a:solidFill>
                  <a:srgbClr val="657468"/>
                </a:solidFill>
                <a:latin typeface="Liberation Sans"/>
              </a:defRPr>
            </a:pPr>
            <a:r>
              <a:t>в личную систему знаний.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0058400" y="4389120"/>
            <a:ext cx="1234440" cy="1097280"/>
          </a:xfrm>
          <a:prstGeom prst="line">
            <a:avLst/>
          </a:prstGeom>
          <a:ln w="18288">
            <a:solidFill>
              <a:srgbClr val="214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292840" y="4389120"/>
            <a:ext cx="1417320" cy="868680"/>
          </a:xfrm>
          <a:prstGeom prst="line">
            <a:avLst/>
          </a:prstGeom>
          <a:ln w="18288">
            <a:solidFill>
              <a:srgbClr val="214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5486400"/>
            <a:ext cx="1097280" cy="1078992"/>
          </a:xfrm>
          <a:prstGeom prst="line">
            <a:avLst/>
          </a:prstGeom>
          <a:ln w="18288">
            <a:solidFill>
              <a:srgbClr val="214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155680" y="5257800"/>
            <a:ext cx="1554480" cy="1307592"/>
          </a:xfrm>
          <a:prstGeom prst="line">
            <a:avLst/>
          </a:prstGeom>
          <a:ln w="18288">
            <a:solidFill>
              <a:srgbClr val="214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966960" y="5394960"/>
            <a:ext cx="182880" cy="182880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28832" y="4325112"/>
            <a:ext cx="128016" cy="128016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091672" y="6501384"/>
            <a:ext cx="128016" cy="128016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582144" y="5129784"/>
            <a:ext cx="256032" cy="256032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6720840"/>
            <a:ext cx="1595114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657468"/>
                </a:solidFill>
                <a:latin typeface="Liberation Sans"/>
              </a:defRPr>
            </a:pPr>
            <a:r>
              <a:t>УЧЕБНЫЙ ПРОТОТИП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61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F2F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F2F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F2F0E7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117607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A7B9AA"/>
                </a:solidFill>
                <a:latin typeface="Liberation Sans"/>
              </a:defRPr>
            </a:pPr>
            <a:r>
              <a:t>02  /  Проблема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A7B9AA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F2F0E7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463040"/>
            <a:ext cx="4229457" cy="969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580"/>
              </a:lnSpc>
              <a:spcBef>
                <a:spcPts val="0"/>
              </a:spcBef>
              <a:spcAft>
                <a:spcPts val="0"/>
              </a:spcAft>
              <a:defRPr sz="6767" b="0" i="0">
                <a:solidFill>
                  <a:srgbClr val="BDD8B9"/>
                </a:solidFill>
                <a:latin typeface="Liberation Serif"/>
              </a:defRPr>
            </a:pPr>
            <a:r>
              <a:t>Ответ есть.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633472"/>
            <a:ext cx="5402085" cy="1845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903"/>
              </a:lnSpc>
              <a:spcBef>
                <a:spcPts val="0"/>
              </a:spcBef>
              <a:spcAft>
                <a:spcPts val="0"/>
              </a:spcAft>
              <a:defRPr sz="6767" b="0" i="0">
                <a:solidFill>
                  <a:srgbClr val="F2F0E7"/>
                </a:solidFill>
                <a:latin typeface="Liberation Serif"/>
              </a:defRPr>
            </a:pPr>
            <a:r>
              <a:t>Что останется</a:t>
            </a:r>
          </a:p>
          <a:p>
            <a:pPr>
              <a:lnSpc>
                <a:spcPts val="6903"/>
              </a:lnSpc>
              <a:spcBef>
                <a:spcPts val="0"/>
              </a:spcBef>
              <a:spcAft>
                <a:spcPts val="0"/>
              </a:spcAft>
              <a:defRPr sz="6767" b="0" i="0">
                <a:solidFill>
                  <a:srgbClr val="F2F0E7"/>
                </a:solidFill>
                <a:latin typeface="Liberation Serif"/>
              </a:defRPr>
            </a:pPr>
            <a:r>
              <a:t>через неделю?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0" y="1554480"/>
            <a:ext cx="0" cy="502920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149840" y="1783080"/>
            <a:ext cx="2555011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BDD8B9"/>
                </a:solidFill>
                <a:latin typeface="Liberation Sans"/>
              </a:defRPr>
            </a:pPr>
            <a:r>
              <a:t>AI уже умеет отвечать.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834640"/>
            <a:ext cx="3065249" cy="16079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F2F0E7"/>
                </a:solidFill>
                <a:latin typeface="Liberation Sans"/>
              </a:defRPr>
            </a:pPr>
            <a:r>
              <a:t>Но контекст теряется.</a:t>
            </a:r>
          </a:p>
          <a:p>
            <a:pPr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F2F0E7"/>
                </a:solidFill>
                <a:latin typeface="Liberation Sans"/>
              </a:defRPr>
            </a:pPr>
            <a:r>
              <a:t>Основание забывается.</a:t>
            </a:r>
          </a:p>
          <a:p>
            <a:pPr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F2F0E7"/>
                </a:solidFill>
                <a:latin typeface="Liberation Sans"/>
              </a:defRPr>
            </a:pPr>
            <a:r>
              <a:t>Похожий случай</a:t>
            </a:r>
          </a:p>
          <a:p>
            <a:pPr>
              <a:lnSpc>
                <a:spcPts val="3236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F2F0E7"/>
                </a:solidFill>
                <a:latin typeface="Liberation Sans"/>
              </a:defRPr>
            </a:pPr>
            <a:r>
              <a:t>снова кажется новым.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8023574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38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BDD8B9"/>
                </a:solidFill>
                <a:latin typeface="Liberation Sans"/>
              </a:defRPr>
            </a:pPr>
            <a:r>
              <a:t>Наша задача — сохранить связь между ответом и пониманием.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11261D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154747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657468"/>
                </a:solidFill>
                <a:latin typeface="Liberation Sans"/>
              </a:defRPr>
            </a:pPr>
            <a:r>
              <a:t>03  /  Учебный сюжет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57468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11261D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408176"/>
            <a:ext cx="4011215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693"/>
              </a:lnSpc>
              <a:spcBef>
                <a:spcPts val="0"/>
              </a:spcBef>
              <a:spcAft>
                <a:spcPts val="0"/>
              </a:spcAft>
              <a:defRPr sz="5976" b="0" i="0">
                <a:solidFill>
                  <a:srgbClr val="11261D"/>
                </a:solidFill>
                <a:latin typeface="Liberation Serif"/>
              </a:defRPr>
            </a:pPr>
            <a:r>
              <a:t>Одна фраза.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404872"/>
            <a:ext cx="3860388" cy="16428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95"/>
              </a:lnSpc>
              <a:spcBef>
                <a:spcPts val="0"/>
              </a:spcBef>
              <a:spcAft>
                <a:spcPts val="0"/>
              </a:spcAft>
              <a:defRPr sz="5976" b="0" i="0">
                <a:solidFill>
                  <a:srgbClr val="214E3A"/>
                </a:solidFill>
                <a:latin typeface="Liberation Serif"/>
              </a:defRPr>
            </a:pPr>
            <a:r>
              <a:t>Три разных</a:t>
            </a:r>
          </a:p>
          <a:p>
            <a:pPr>
              <a:lnSpc>
                <a:spcPts val="6095"/>
              </a:lnSpc>
              <a:spcBef>
                <a:spcPts val="0"/>
              </a:spcBef>
              <a:spcAft>
                <a:spcPts val="0"/>
              </a:spcAft>
              <a:defRPr sz="5976" b="0" i="0">
                <a:solidFill>
                  <a:srgbClr val="214E3A"/>
                </a:solidFill>
                <a:latin typeface="Liberation Serif"/>
              </a:defRPr>
            </a:pPr>
            <a:r>
              <a:t>вопроса.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490472"/>
            <a:ext cx="147422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 i="0">
                <a:solidFill>
                  <a:srgbClr val="657468"/>
                </a:solidFill>
                <a:latin typeface="Liberation Sans"/>
              </a:defRPr>
            </a:pPr>
            <a:r>
              <a:t>УЧЕБНАЯ НОВОСТЬ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11095"/>
            <a:ext cx="4558426" cy="10402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70"/>
              </a:lnSpc>
              <a:spcBef>
                <a:spcPts val="0"/>
              </a:spcBef>
              <a:spcAft>
                <a:spcPts val="0"/>
              </a:spcAft>
              <a:defRPr sz="3456" b="0" i="0">
                <a:solidFill>
                  <a:srgbClr val="11261D"/>
                </a:solidFill>
                <a:latin typeface="Liberation Serif"/>
              </a:defRPr>
            </a:pPr>
            <a:r>
              <a:t>«В городе запускают</a:t>
            </a:r>
          </a:p>
          <a:p>
            <a:pPr>
              <a:lnSpc>
                <a:spcPts val="3870"/>
              </a:lnSpc>
              <a:spcBef>
                <a:spcPts val="0"/>
              </a:spcBef>
              <a:spcAft>
                <a:spcPts val="0"/>
              </a:spcAft>
              <a:defRPr sz="3456" b="0" i="0">
                <a:solidFill>
                  <a:srgbClr val="11261D"/>
                </a:solidFill>
                <a:latin typeface="Liberation Serif"/>
              </a:defRPr>
            </a:pPr>
            <a:r>
              <a:t>бесплатный транспорт»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0" y="3383280"/>
            <a:ext cx="6163056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0" y="3566160"/>
            <a:ext cx="33348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4"/>
              </a:lnSpc>
              <a:spcBef>
                <a:spcPts val="0"/>
              </a:spcBef>
              <a:spcAft>
                <a:spcPts val="0"/>
              </a:spcAft>
              <a:defRPr sz="1584" b="0" i="0">
                <a:solidFill>
                  <a:srgbClr val="657468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511296"/>
            <a:ext cx="759737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3"/>
              </a:lnSpc>
              <a:spcBef>
                <a:spcPts val="0"/>
              </a:spcBef>
              <a:spcAft>
                <a:spcPts val="0"/>
              </a:spcAft>
              <a:defRPr sz="2592" b="0" i="0">
                <a:solidFill>
                  <a:srgbClr val="11261D"/>
                </a:solidFill>
                <a:latin typeface="Liberation Serif"/>
              </a:defRPr>
            </a:pPr>
            <a:r>
              <a:t>Где?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4005072"/>
            <a:ext cx="304591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4"/>
              </a:lnSpc>
              <a:spcBef>
                <a:spcPts val="0"/>
              </a:spcBef>
              <a:spcAft>
                <a:spcPts val="0"/>
              </a:spcAft>
              <a:defRPr sz="1584" b="0" i="0">
                <a:solidFill>
                  <a:srgbClr val="657468"/>
                </a:solidFill>
                <a:latin typeface="Liberation Sans"/>
              </a:defRPr>
            </a:pPr>
            <a:r>
              <a:t>Весь город или один маршрут?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4572000"/>
            <a:ext cx="6163056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0" y="4754880"/>
            <a:ext cx="33348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4"/>
              </a:lnSpc>
              <a:spcBef>
                <a:spcPts val="0"/>
              </a:spcBef>
              <a:spcAft>
                <a:spcPts val="0"/>
              </a:spcAft>
              <a:defRPr sz="1584" b="0" i="0">
                <a:solidFill>
                  <a:srgbClr val="657468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4700016"/>
            <a:ext cx="150249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3"/>
              </a:lnSpc>
              <a:spcBef>
                <a:spcPts val="0"/>
              </a:spcBef>
              <a:spcAft>
                <a:spcPts val="0"/>
              </a:spcAft>
              <a:defRPr sz="2592" b="0" i="0">
                <a:solidFill>
                  <a:srgbClr val="11261D"/>
                </a:solidFill>
                <a:latin typeface="Liberation Serif"/>
              </a:defRPr>
            </a:pPr>
            <a:r>
              <a:t>Для кого?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5193792"/>
            <a:ext cx="375963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4"/>
              </a:lnSpc>
              <a:spcBef>
                <a:spcPts val="0"/>
              </a:spcBef>
              <a:spcAft>
                <a:spcPts val="0"/>
              </a:spcAft>
              <a:defRPr sz="1584" b="0" i="0">
                <a:solidFill>
                  <a:srgbClr val="657468"/>
                </a:solidFill>
                <a:latin typeface="Liberation Sans"/>
              </a:defRPr>
            </a:pPr>
            <a:r>
              <a:t>Все пассажиры или участники пилота?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0" y="5760720"/>
            <a:ext cx="6163056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0" y="5943600"/>
            <a:ext cx="33348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4"/>
              </a:lnSpc>
              <a:spcBef>
                <a:spcPts val="0"/>
              </a:spcBef>
              <a:spcAft>
                <a:spcPts val="0"/>
              </a:spcAft>
              <a:defRPr sz="1584" b="0" i="0">
                <a:solidFill>
                  <a:srgbClr val="657468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5888736"/>
            <a:ext cx="108860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3"/>
              </a:lnSpc>
              <a:spcBef>
                <a:spcPts val="0"/>
              </a:spcBef>
              <a:spcAft>
                <a:spcPts val="0"/>
              </a:spcAft>
              <a:defRPr sz="2592" b="0" i="0">
                <a:solidFill>
                  <a:srgbClr val="11261D"/>
                </a:solidFill>
                <a:latin typeface="Liberation Serif"/>
              </a:defRPr>
            </a:pPr>
            <a:r>
              <a:t>Когда?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6382512"/>
            <a:ext cx="3245414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4"/>
              </a:lnSpc>
              <a:spcBef>
                <a:spcPts val="0"/>
              </a:spcBef>
              <a:spcAft>
                <a:spcPts val="0"/>
              </a:spcAft>
              <a:defRPr sz="1584" b="0" i="0">
                <a:solidFill>
                  <a:srgbClr val="657468"/>
                </a:solidFill>
                <a:latin typeface="Liberation Sans"/>
              </a:defRPr>
            </a:pPr>
            <a:r>
              <a:t>Постоянно или в дни испытаний?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64224"/>
            <a:ext cx="4894750" cy="6331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7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214E3A"/>
                </a:solidFill>
                <a:latin typeface="Liberation Sans"/>
              </a:defRPr>
            </a:pPr>
            <a:r>
              <a:t>Общий заголовок ещё не даёт основания</a:t>
            </a:r>
          </a:p>
          <a:p>
            <a:pPr>
              <a:lnSpc>
                <a:spcPts val="2177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214E3A"/>
                </a:solidFill>
                <a:latin typeface="Liberation Sans"/>
              </a:defRPr>
            </a:pPr>
            <a:r>
              <a:t>для личного решения.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61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F2F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F2F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F2F0E7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122565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A7B9AA"/>
                </a:solidFill>
                <a:latin typeface="Liberation Sans"/>
              </a:defRPr>
            </a:pPr>
            <a:r>
              <a:t>04  /  Основания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A7B9AA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F2F0E7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307592"/>
            <a:ext cx="5489962" cy="15647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840"/>
              </a:lnSpc>
              <a:spcBef>
                <a:spcPts val="0"/>
              </a:spcBef>
              <a:spcAft>
                <a:spcPts val="0"/>
              </a:spcAft>
              <a:defRPr sz="5616" b="0" i="0">
                <a:solidFill>
                  <a:srgbClr val="F2F0E7"/>
                </a:solidFill>
                <a:latin typeface="Liberation Serif"/>
              </a:defRPr>
            </a:pPr>
            <a:r>
              <a:t>Вывод, который</a:t>
            </a:r>
          </a:p>
          <a:p>
            <a:pPr>
              <a:lnSpc>
                <a:spcPts val="5840"/>
              </a:lnSpc>
              <a:spcBef>
                <a:spcPts val="0"/>
              </a:spcBef>
              <a:spcAft>
                <a:spcPts val="0"/>
              </a:spcAft>
              <a:defRPr sz="5616" b="0" i="0">
                <a:solidFill>
                  <a:srgbClr val="F2F0E7"/>
                </a:solidFill>
                <a:latin typeface="Liberation Serif"/>
              </a:defRPr>
            </a:pPr>
            <a:r>
              <a:t>можно разобрать.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645920" y="3657600"/>
            <a:ext cx="1691640" cy="1325880"/>
          </a:xfrm>
          <a:prstGeom prst="line">
            <a:avLst/>
          </a:prstGeom>
          <a:ln w="18288">
            <a:solidFill>
              <a:srgbClr val="BDD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37560" y="3657600"/>
            <a:ext cx="1874520" cy="1325880"/>
          </a:xfrm>
          <a:prstGeom prst="line">
            <a:avLst/>
          </a:prstGeom>
          <a:ln w="18288">
            <a:solidFill>
              <a:srgbClr val="BDD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645920" y="4983480"/>
            <a:ext cx="1691640" cy="1234440"/>
          </a:xfrm>
          <a:prstGeom prst="line">
            <a:avLst/>
          </a:prstGeom>
          <a:ln w="18288">
            <a:solidFill>
              <a:srgbClr val="BDD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337560" y="4983480"/>
            <a:ext cx="1874520" cy="1234440"/>
          </a:xfrm>
          <a:prstGeom prst="line">
            <a:avLst/>
          </a:prstGeom>
          <a:ln w="18288">
            <a:solidFill>
              <a:srgbClr val="BDD8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236976" y="3557016"/>
            <a:ext cx="201168" cy="201168"/>
          </a:xfrm>
          <a:prstGeom prst="ellipse">
            <a:avLst/>
          </a:prstGeom>
          <a:solidFill>
            <a:srgbClr val="BDD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72768" y="4910328"/>
            <a:ext cx="146304" cy="146304"/>
          </a:xfrm>
          <a:prstGeom prst="ellipse">
            <a:avLst/>
          </a:prstGeom>
          <a:solidFill>
            <a:srgbClr val="BDD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38928" y="4910328"/>
            <a:ext cx="146304" cy="146304"/>
          </a:xfrm>
          <a:prstGeom prst="ellipse">
            <a:avLst/>
          </a:prstGeom>
          <a:solidFill>
            <a:srgbClr val="BDD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18688" y="6099048"/>
            <a:ext cx="237744" cy="237744"/>
          </a:xfrm>
          <a:prstGeom prst="ellipse">
            <a:avLst/>
          </a:prstGeom>
          <a:solidFill>
            <a:srgbClr val="BDD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493008"/>
            <a:ext cx="11060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4"/>
              </a:lnSpc>
              <a:spcBef>
                <a:spcPts val="0"/>
              </a:spcBef>
              <a:spcAft>
                <a:spcPts val="0"/>
              </a:spcAft>
              <a:defRPr sz="1584" b="0" i="0">
                <a:solidFill>
                  <a:srgbClr val="BDD8B9"/>
                </a:solidFill>
                <a:latin typeface="Liberation Sans"/>
              </a:defRPr>
            </a:pPr>
            <a:r>
              <a:t>Обещание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5239512"/>
            <a:ext cx="1185081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F2F0E7"/>
                </a:solidFill>
                <a:latin typeface="Liberation Sans"/>
              </a:defRPr>
            </a:pPr>
            <a:r>
              <a:t>Публикация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239512"/>
            <a:ext cx="1538000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F2F0E7"/>
                </a:solidFill>
                <a:latin typeface="Liberation Sans"/>
              </a:defRPr>
            </a:pPr>
            <a:r>
              <a:t>Условия пилота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6089904"/>
            <a:ext cx="1877216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4"/>
              </a:lnSpc>
              <a:spcBef>
                <a:spcPts val="0"/>
              </a:spcBef>
              <a:spcAft>
                <a:spcPts val="0"/>
              </a:spcAft>
              <a:defRPr sz="1584" b="0" i="0">
                <a:solidFill>
                  <a:srgbClr val="BDD8B9"/>
                </a:solidFill>
                <a:latin typeface="Liberation Sans"/>
              </a:defRPr>
            </a:pPr>
            <a:r>
              <a:t>Конкретная цитата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60" y="3410712"/>
            <a:ext cx="0" cy="3236976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0" y="3538728"/>
            <a:ext cx="121222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BDD8B9"/>
                </a:solidFill>
                <a:latin typeface="Liberation Sans"/>
              </a:defRPr>
            </a:pPr>
            <a:r>
              <a:t>ОГРАНИЧЕНИЕ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032504"/>
            <a:ext cx="3346195" cy="22360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defRPr sz="5544" b="0" i="0">
                <a:solidFill>
                  <a:srgbClr val="F2F0E7"/>
                </a:solidFill>
                <a:latin typeface="Liberation Serif"/>
              </a:defRPr>
            </a:pPr>
            <a:r>
              <a:t>Бесплатно</a:t>
            </a:r>
          </a:p>
          <a:p>
            <a:pPr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defRPr sz="5544" b="0" i="0">
                <a:solidFill>
                  <a:srgbClr val="F2F0E7"/>
                </a:solidFill>
                <a:latin typeface="Liberation Serif"/>
              </a:defRPr>
            </a:pPr>
            <a:r>
              <a:t>в пределах</a:t>
            </a:r>
          </a:p>
          <a:p>
            <a:pPr>
              <a:lnSpc>
                <a:spcPts val="5599"/>
              </a:lnSpc>
              <a:spcBef>
                <a:spcPts val="0"/>
              </a:spcBef>
              <a:spcAft>
                <a:spcPts val="0"/>
              </a:spcAft>
              <a:defRPr sz="5544" b="0" i="0">
                <a:solidFill>
                  <a:srgbClr val="F2F0E7"/>
                </a:solidFill>
                <a:latin typeface="Liberation Serif"/>
              </a:defRPr>
            </a:pPr>
            <a:r>
              <a:t>пилота.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8975" y="6473952"/>
            <a:ext cx="4215205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7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BDD8B9"/>
                </a:solidFill>
                <a:latin typeface="Liberation Sans"/>
              </a:defRPr>
            </a:pPr>
            <a:r>
              <a:t>Это не обещание для всего города.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11261D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111992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657468"/>
                </a:solidFill>
                <a:latin typeface="Liberation Sans"/>
              </a:defRPr>
            </a:pPr>
            <a:r>
              <a:t>05  /  Прототип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57468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11261D"/>
                </a:solidFill>
                <a:latin typeface="Liberation Sans"/>
              </a:defRPr>
            </a:pPr>
            <a:r>
              <a:t>05</a:t>
            </a:r>
          </a:p>
        </p:txBody>
      </p:sp>
      <p:pic>
        <p:nvPicPr>
          <p:cNvPr id="12" name="Picture 11" descr="ru.truepath.app.ui_DesignSnapshotTest_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08176"/>
            <a:ext cx="2529230" cy="5486400"/>
          </a:xfrm>
          <a:prstGeom prst="rect">
            <a:avLst/>
          </a:prstGeom>
        </p:spPr>
      </p:pic>
      <p:pic>
        <p:nvPicPr>
          <p:cNvPr id="13" name="Picture 12" descr="ru.truepath.app.ui_DesignSnapshotTest_graphConclu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1408176"/>
            <a:ext cx="2529230" cy="5486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2176272"/>
            <a:ext cx="4969290" cy="1396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66"/>
              </a:lnSpc>
              <a:spcBef>
                <a:spcPts val="0"/>
              </a:spcBef>
              <a:spcAft>
                <a:spcPts val="0"/>
              </a:spcAft>
              <a:defRPr sz="4968" b="0" i="0">
                <a:solidFill>
                  <a:srgbClr val="11261D"/>
                </a:solidFill>
                <a:latin typeface="Liberation Serif"/>
              </a:defRPr>
            </a:pPr>
            <a:r>
              <a:t>Путь от заголовка</a:t>
            </a:r>
          </a:p>
          <a:p>
            <a:pPr>
              <a:lnSpc>
                <a:spcPts val="5166"/>
              </a:lnSpc>
              <a:spcBef>
                <a:spcPts val="0"/>
              </a:spcBef>
              <a:spcAft>
                <a:spcPts val="0"/>
              </a:spcAft>
              <a:defRPr sz="4968" b="0" i="0">
                <a:solidFill>
                  <a:srgbClr val="11261D"/>
                </a:solidFill>
                <a:latin typeface="Liberation Serif"/>
              </a:defRPr>
            </a:pPr>
            <a:r>
              <a:t>до основания.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4361688"/>
            <a:ext cx="5064003" cy="356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7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214E3A"/>
                </a:solidFill>
                <a:latin typeface="Liberation Sans"/>
              </a:defRPr>
            </a:pPr>
            <a:r>
              <a:t>Лента → исследование → граф → история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48072"/>
            <a:ext cx="4127636" cy="10643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14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657468"/>
                </a:solidFill>
                <a:latin typeface="Liberation Sans"/>
              </a:defRPr>
            </a:pPr>
            <a:r>
              <a:t>Подготовленный поток событий.</a:t>
            </a:r>
          </a:p>
          <a:p>
            <a:pPr>
              <a:lnSpc>
                <a:spcPts val="2714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657468"/>
                </a:solidFill>
                <a:latin typeface="Liberation Sans"/>
              </a:defRPr>
            </a:pPr>
            <a:r>
              <a:t>Без выдачи демонстрации</a:t>
            </a:r>
          </a:p>
          <a:p>
            <a:pPr>
              <a:lnSpc>
                <a:spcPts val="2714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657468"/>
                </a:solidFill>
                <a:latin typeface="Liberation Sans"/>
              </a:defRPr>
            </a:pPr>
            <a:r>
              <a:t>за реальный фактчекинг.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7104888"/>
            <a:ext cx="322611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57468"/>
                </a:solidFill>
                <a:latin typeface="Liberation Sans"/>
              </a:defRPr>
            </a:pPr>
            <a:r>
              <a:t>COMPOSE / PAPARAZZI · СНИМКИ ИЗ РЕПОЗИТОРИЯ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DD8B9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11261D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234772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657468"/>
                </a:solidFill>
                <a:latin typeface="Liberation Sans"/>
              </a:defRPr>
            </a:pPr>
            <a:r>
              <a:t>06  /  Память — следующий этап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57468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11261D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52728"/>
            <a:ext cx="7520672" cy="16243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22"/>
              </a:lnSpc>
              <a:spcBef>
                <a:spcPts val="0"/>
              </a:spcBef>
              <a:spcAft>
                <a:spcPts val="0"/>
              </a:spcAft>
              <a:defRPr sz="5904" b="0" i="0">
                <a:solidFill>
                  <a:srgbClr val="11261D"/>
                </a:solidFill>
                <a:latin typeface="Liberation Serif"/>
              </a:defRPr>
            </a:pPr>
            <a:r>
              <a:t>Следующая новость —</a:t>
            </a:r>
          </a:p>
          <a:p>
            <a:pPr>
              <a:lnSpc>
                <a:spcPts val="6022"/>
              </a:lnSpc>
              <a:spcBef>
                <a:spcPts val="0"/>
              </a:spcBef>
              <a:spcAft>
                <a:spcPts val="0"/>
              </a:spcAft>
              <a:defRPr sz="5904" b="0" i="0">
                <a:solidFill>
                  <a:srgbClr val="11261D"/>
                </a:solidFill>
                <a:latin typeface="Liberation Serif"/>
              </a:defRPr>
            </a:pPr>
            <a:r>
              <a:t>уже не с нуля.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40280" y="5029200"/>
            <a:ext cx="5074920" cy="0"/>
          </a:xfrm>
          <a:prstGeom prst="line">
            <a:avLst/>
          </a:prstGeom>
          <a:ln w="18288">
            <a:solidFill>
              <a:srgbClr val="214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5029200"/>
            <a:ext cx="5074920" cy="0"/>
          </a:xfrm>
          <a:prstGeom prst="line">
            <a:avLst/>
          </a:prstGeom>
          <a:ln w="18288">
            <a:solidFill>
              <a:srgbClr val="214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148840" y="4937760"/>
            <a:ext cx="182880" cy="182880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50608" y="4864608"/>
            <a:ext cx="329184" cy="329184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298680" y="4937760"/>
            <a:ext cx="182880" cy="182880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49039"/>
            <a:ext cx="7382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214E3A"/>
                </a:solidFill>
                <a:latin typeface="Liberation Sans"/>
              </a:defRPr>
            </a:pPr>
            <a:r>
              <a:t>РАНЬШЕ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23944"/>
            <a:ext cx="2075723" cy="923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86"/>
              </a:lnSpc>
              <a:spcBef>
                <a:spcPts val="0"/>
              </a:spcBef>
              <a:spcAft>
                <a:spcPts val="0"/>
              </a:spcAft>
              <a:defRPr sz="3024" b="0" i="0">
                <a:solidFill>
                  <a:srgbClr val="11261D"/>
                </a:solidFill>
                <a:latin typeface="Liberation Serif"/>
              </a:defRPr>
            </a:pPr>
            <a:r>
              <a:t>Бесплатный</a:t>
            </a:r>
          </a:p>
          <a:p>
            <a:pPr>
              <a:lnSpc>
                <a:spcPts val="3386"/>
              </a:lnSpc>
              <a:spcBef>
                <a:spcPts val="0"/>
              </a:spcBef>
              <a:spcAft>
                <a:spcPts val="0"/>
              </a:spcAft>
              <a:defRPr sz="3024" b="0" i="0">
                <a:solidFill>
                  <a:srgbClr val="11261D"/>
                </a:solidFill>
                <a:latin typeface="Liberation Serif"/>
              </a:defRPr>
            </a:pPr>
            <a:r>
              <a:t>транспорт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24144" y="5632704"/>
            <a:ext cx="1682138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214E3A"/>
                </a:solidFill>
                <a:latin typeface="Liberation Sans"/>
              </a:defRPr>
            </a:pPr>
            <a:r>
              <a:t>ПРИНЦИП ПРОВЕРКИ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24144" y="5989320"/>
            <a:ext cx="2610433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3"/>
              </a:lnSpc>
              <a:spcBef>
                <a:spcPts val="0"/>
              </a:spcBef>
              <a:spcAft>
                <a:spcPts val="0"/>
              </a:spcAft>
              <a:defRPr sz="2592" b="0" i="0">
                <a:solidFill>
                  <a:srgbClr val="11261D"/>
                </a:solidFill>
                <a:latin typeface="Liberation Serif"/>
              </a:defRPr>
            </a:pPr>
            <a:r>
              <a:t>Область действия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749039"/>
            <a:ext cx="69301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214E3A"/>
                </a:solidFill>
                <a:latin typeface="Liberation Sans"/>
              </a:defRPr>
            </a:pPr>
            <a:r>
              <a:t>ТЕПЕРЬ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123944"/>
            <a:ext cx="2258184" cy="923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86"/>
              </a:lnSpc>
              <a:spcBef>
                <a:spcPts val="0"/>
              </a:spcBef>
              <a:spcAft>
                <a:spcPts val="0"/>
              </a:spcAft>
              <a:defRPr sz="3024" b="0" i="0">
                <a:solidFill>
                  <a:srgbClr val="11261D"/>
                </a:solidFill>
                <a:latin typeface="Liberation Serif"/>
              </a:defRPr>
            </a:pPr>
            <a:r>
              <a:t>Новая льгота</a:t>
            </a:r>
          </a:p>
          <a:p>
            <a:pPr>
              <a:lnSpc>
                <a:spcPts val="3386"/>
              </a:lnSpc>
              <a:spcBef>
                <a:spcPts val="0"/>
              </a:spcBef>
              <a:spcAft>
                <a:spcPts val="0"/>
              </a:spcAft>
              <a:defRPr sz="3024" b="0" i="0">
                <a:solidFill>
                  <a:srgbClr val="11261D"/>
                </a:solidFill>
                <a:latin typeface="Liberation Serif"/>
              </a:defRPr>
            </a:pPr>
            <a:r>
              <a:t>«для всех»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894576"/>
            <a:ext cx="7554658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defRPr sz="2016" b="0" i="0">
                <a:solidFill>
                  <a:srgbClr val="214E3A"/>
                </a:solidFill>
                <a:latin typeface="Liberation Sans"/>
              </a:defRPr>
            </a:pPr>
            <a:r>
              <a:t>Объяснимая ассоциация. Не автоматическое подтверждение.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11261D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248859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657468"/>
                </a:solidFill>
                <a:latin typeface="Liberation Sans"/>
              </a:defRPr>
            </a:pPr>
            <a:r>
              <a:t>07  /  Усвоение — следующий этап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57468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11261D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80160"/>
            <a:ext cx="6728769" cy="16020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990"/>
              </a:lnSpc>
              <a:spcBef>
                <a:spcPts val="0"/>
              </a:spcBef>
              <a:spcAft>
                <a:spcPts val="0"/>
              </a:spcAft>
              <a:defRPr sz="5759" b="0" i="0">
                <a:solidFill>
                  <a:srgbClr val="11261D"/>
                </a:solidFill>
                <a:latin typeface="Liberation Serif"/>
              </a:defRPr>
            </a:pPr>
            <a:r>
              <a:t>Сохранить —</a:t>
            </a:r>
          </a:p>
          <a:p>
            <a:pPr>
              <a:lnSpc>
                <a:spcPts val="5990"/>
              </a:lnSpc>
              <a:spcBef>
                <a:spcPts val="0"/>
              </a:spcBef>
              <a:spcAft>
                <a:spcPts val="0"/>
              </a:spcAft>
              <a:defRPr sz="5759" b="0" i="0">
                <a:solidFill>
                  <a:srgbClr val="11261D"/>
                </a:solidFill>
                <a:latin typeface="Liberation Serif"/>
              </a:defRPr>
            </a:pPr>
            <a:r>
              <a:t>не значит запомнить.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56432"/>
            <a:ext cx="6513599" cy="10402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70"/>
              </a:lnSpc>
              <a:spcBef>
                <a:spcPts val="0"/>
              </a:spcBef>
              <a:spcAft>
                <a:spcPts val="0"/>
              </a:spcAft>
              <a:defRPr sz="3456" b="0" i="1">
                <a:solidFill>
                  <a:srgbClr val="214E3A"/>
                </a:solidFill>
                <a:latin typeface="Liberation Serif"/>
              </a:defRPr>
            </a:pPr>
            <a:r>
              <a:t>«Какие условия нужно уточнить,</a:t>
            </a:r>
          </a:p>
          <a:p>
            <a:pPr>
              <a:lnSpc>
                <a:spcPts val="3870"/>
              </a:lnSpc>
              <a:spcBef>
                <a:spcPts val="0"/>
              </a:spcBef>
              <a:spcAft>
                <a:spcPts val="0"/>
              </a:spcAft>
              <a:defRPr sz="3456" b="0" i="1">
                <a:solidFill>
                  <a:srgbClr val="214E3A"/>
                </a:solidFill>
                <a:latin typeface="Liberation Serif"/>
              </a:defRPr>
            </a:pPr>
            <a:r>
              <a:t>прежде чем менять свои планы?»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5394960"/>
            <a:ext cx="3840480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5614416"/>
            <a:ext cx="29280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0" i="0">
                <a:solidFill>
                  <a:srgbClr val="657468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1924401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67"/>
              </a:lnSpc>
              <a:spcBef>
                <a:spcPts val="0"/>
              </a:spcBef>
              <a:spcAft>
                <a:spcPts val="0"/>
              </a:spcAft>
              <a:defRPr sz="3095" b="0" i="0">
                <a:solidFill>
                  <a:srgbClr val="11261D"/>
                </a:solidFill>
                <a:latin typeface="Liberation Serif"/>
              </a:defRPr>
            </a:pPr>
            <a:r>
              <a:t>Объяснить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65392"/>
            <a:ext cx="1971232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657468"/>
                </a:solidFill>
                <a:latin typeface="Liberation Sans"/>
              </a:defRPr>
            </a:pPr>
            <a:r>
              <a:t>Своими словами.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94960" y="5394960"/>
            <a:ext cx="3840480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94960" y="5614416"/>
            <a:ext cx="29280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0" i="0">
                <a:solidFill>
                  <a:srgbClr val="657468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5989320"/>
            <a:ext cx="1856629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67"/>
              </a:lnSpc>
              <a:spcBef>
                <a:spcPts val="0"/>
              </a:spcBef>
              <a:spcAft>
                <a:spcPts val="0"/>
              </a:spcAft>
              <a:defRPr sz="3095" b="0" i="0">
                <a:solidFill>
                  <a:srgbClr val="11261D"/>
                </a:solidFill>
                <a:latin typeface="Liberation Serif"/>
              </a:defRPr>
            </a:pPr>
            <a:r>
              <a:t>Вернуться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6565392"/>
            <a:ext cx="3184219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657468"/>
                </a:solidFill>
                <a:latin typeface="Liberation Sans"/>
              </a:defRPr>
            </a:pPr>
            <a:r>
              <a:t>Когда удобно пользователю.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58400" y="5394960"/>
            <a:ext cx="3840480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058400" y="5614416"/>
            <a:ext cx="29280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0" i="0">
                <a:solidFill>
                  <a:srgbClr val="657468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5989320"/>
            <a:ext cx="1996012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67"/>
              </a:lnSpc>
              <a:spcBef>
                <a:spcPts val="0"/>
              </a:spcBef>
              <a:spcAft>
                <a:spcPts val="0"/>
              </a:spcAft>
              <a:defRPr sz="3095" b="0" i="0">
                <a:solidFill>
                  <a:srgbClr val="11261D"/>
                </a:solidFill>
                <a:latin typeface="Liberation Serif"/>
              </a:defRPr>
            </a:pPr>
            <a:r>
              <a:t>Применить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65392"/>
            <a:ext cx="2252183" cy="3383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657468"/>
                </a:solidFill>
                <a:latin typeface="Liberation Sans"/>
              </a:defRPr>
            </a:pPr>
            <a:r>
              <a:t>На другом примере.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61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F2F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F2F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F2F0E7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2574821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A7B9AA"/>
                </a:solidFill>
                <a:latin typeface="Liberation Sans"/>
              </a:defRPr>
            </a:pPr>
            <a:r>
              <a:t>08  /  Адаптация — следующий этап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A7B9AA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F2F0E7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325880"/>
            <a:ext cx="7590788" cy="877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773"/>
              </a:lnSpc>
              <a:spcBef>
                <a:spcPts val="0"/>
              </a:spcBef>
              <a:spcAft>
                <a:spcPts val="0"/>
              </a:spcAft>
              <a:defRPr sz="6048" b="0" i="0">
                <a:solidFill>
                  <a:srgbClr val="BDD8B9"/>
                </a:solidFill>
                <a:latin typeface="Liberation Serif"/>
              </a:defRPr>
            </a:pPr>
            <a:r>
              <a:t>С опытом — полезнее.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3008376"/>
            <a:ext cx="0" cy="3209544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154680"/>
            <a:ext cx="3024779" cy="1402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0"/>
              </a:lnSpc>
              <a:spcBef>
                <a:spcPts val="0"/>
              </a:spcBef>
              <a:spcAft>
                <a:spcPts val="0"/>
              </a:spcAft>
              <a:defRPr sz="5040" b="0" i="0">
                <a:solidFill>
                  <a:srgbClr val="F2F0E7"/>
                </a:solidFill>
                <a:latin typeface="Liberation Serif"/>
              </a:defRPr>
            </a:pPr>
            <a:r>
              <a:t>Лучше</a:t>
            </a:r>
          </a:p>
          <a:p>
            <a:pPr>
              <a:lnSpc>
                <a:spcPts val="5140"/>
              </a:lnSpc>
              <a:spcBef>
                <a:spcPts val="0"/>
              </a:spcBef>
              <a:spcAft>
                <a:spcPts val="0"/>
              </a:spcAft>
              <a:defRPr sz="5040" b="0" i="0">
                <a:solidFill>
                  <a:srgbClr val="F2F0E7"/>
                </a:solidFill>
                <a:latin typeface="Liberation Serif"/>
              </a:defRPr>
            </a:pPr>
            <a:r>
              <a:t>проверять.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154680"/>
            <a:ext cx="3033530" cy="1402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0"/>
              </a:lnSpc>
              <a:spcBef>
                <a:spcPts val="0"/>
              </a:spcBef>
              <a:spcAft>
                <a:spcPts val="0"/>
              </a:spcAft>
              <a:defRPr sz="5040" b="0" i="0">
                <a:solidFill>
                  <a:srgbClr val="F2F0E7"/>
                </a:solidFill>
                <a:latin typeface="Liberation Serif"/>
              </a:defRPr>
            </a:pPr>
            <a:r>
              <a:t>Понятнее</a:t>
            </a:r>
          </a:p>
          <a:p>
            <a:pPr>
              <a:lnSpc>
                <a:spcPts val="5140"/>
              </a:lnSpc>
              <a:spcBef>
                <a:spcPts val="0"/>
              </a:spcBef>
              <a:spcAft>
                <a:spcPts val="0"/>
              </a:spcAft>
              <a:defRPr sz="5040" b="0" i="0">
                <a:solidFill>
                  <a:srgbClr val="F2F0E7"/>
                </a:solidFill>
                <a:latin typeface="Liberation Serif"/>
              </a:defRPr>
            </a:pPr>
            <a:r>
              <a:t>объяснять.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166360"/>
            <a:ext cx="3589774" cy="732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8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BDD8B9"/>
                </a:solidFill>
                <a:latin typeface="Liberation Sans"/>
              </a:defRPr>
            </a:pPr>
            <a:r>
              <a:t>Основания. Независимость.</a:t>
            </a:r>
          </a:p>
          <a:p>
            <a:pPr>
              <a:lnSpc>
                <a:spcPts val="2818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BDD8B9"/>
                </a:solidFill>
                <a:latin typeface="Liberation Sans"/>
              </a:defRPr>
            </a:pPr>
            <a:r>
              <a:t>Исправления источников.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6" y="5166360"/>
            <a:ext cx="4121809" cy="7328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8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BDD8B9"/>
                </a:solidFill>
                <a:latin typeface="Liberation Sans"/>
              </a:defRPr>
            </a:pPr>
            <a:r>
              <a:t>Знакомые понятия. Ассоциации.</a:t>
            </a:r>
          </a:p>
          <a:p>
            <a:pPr>
              <a:lnSpc>
                <a:spcPts val="2818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BDD8B9"/>
                </a:solidFill>
                <a:latin typeface="Liberation Sans"/>
              </a:defRPr>
            </a:pPr>
            <a:r>
              <a:t>Результаты воспроизведения.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784848"/>
            <a:ext cx="73318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defRPr sz="2016" b="0" i="0">
                <a:solidFill>
                  <a:srgbClr val="BDD8B9"/>
                </a:solidFill>
                <a:latin typeface="Liberation Sans"/>
              </a:defRPr>
            </a:pPr>
            <a:r>
              <a:t>Предпочтения пользователя не определяют достоверность.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11261D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181472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657468"/>
                </a:solidFill>
                <a:latin typeface="Liberation Sans"/>
              </a:defRPr>
            </a:pPr>
            <a:r>
              <a:t>09  /  Фактический статус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57468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11261D"/>
                </a:solidFill>
                <a:latin typeface="Liberation Sans"/>
              </a:defRPr>
            </a:pPr>
            <a: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89304"/>
            <a:ext cx="6768774" cy="8412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451"/>
              </a:lnSpc>
              <a:spcBef>
                <a:spcPts val="0"/>
              </a:spcBef>
              <a:spcAft>
                <a:spcPts val="0"/>
              </a:spcAft>
              <a:defRPr sz="5759" b="0" i="0">
                <a:solidFill>
                  <a:srgbClr val="11261D"/>
                </a:solidFill>
                <a:latin typeface="Liberation Serif"/>
              </a:defRPr>
            </a:pPr>
            <a:r>
              <a:t>Что работает сегодня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871216"/>
            <a:ext cx="1956816" cy="1956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89"/>
              </a:lnSpc>
              <a:spcBef>
                <a:spcPts val="0"/>
              </a:spcBef>
              <a:spcAft>
                <a:spcPts val="0"/>
              </a:spcAft>
              <a:defRPr sz="14544" b="0" i="0">
                <a:solidFill>
                  <a:srgbClr val="214E3A"/>
                </a:solidFill>
                <a:latin typeface="Liberation Serif"/>
              </a:defRPr>
            </a:pPr>
            <a: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010912"/>
            <a:ext cx="3131221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83"/>
              </a:lnSpc>
              <a:spcBef>
                <a:spcPts val="0"/>
              </a:spcBef>
              <a:spcAft>
                <a:spcPts val="0"/>
              </a:spcAft>
              <a:defRPr sz="2664" b="0" i="0">
                <a:solidFill>
                  <a:srgbClr val="11261D"/>
                </a:solidFill>
                <a:latin typeface="Liberation Serif"/>
              </a:defRPr>
            </a:pPr>
            <a:r>
              <a:t>unit-тестов пройдено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5715000"/>
            <a:ext cx="4065360" cy="7022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1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657468"/>
                </a:solidFill>
                <a:latin typeface="Liberation Sans"/>
              </a:defRPr>
            </a:pPr>
            <a:r>
              <a:t>Компиляция успешна</a:t>
            </a:r>
          </a:p>
          <a:p>
            <a:pPr>
              <a:lnSpc>
                <a:spcPts val="2721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657468"/>
                </a:solidFill>
                <a:latin typeface="Liberation Sans"/>
              </a:defRPr>
            </a:pPr>
            <a:r>
              <a:t>Lint: 0 ошибок / 6 предупреждений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3008376"/>
            <a:ext cx="0" cy="3730752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89520" y="3118104"/>
            <a:ext cx="1927526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657468"/>
                </a:solidFill>
                <a:latin typeface="Liberation Sans"/>
              </a:defRPr>
            </a:pPr>
            <a:r>
              <a:t>В РАБОЧЕМ ПРОТОТИПЕ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538728"/>
            <a:ext cx="2871528" cy="13141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09"/>
              </a:lnSpc>
              <a:spcBef>
                <a:spcPts val="0"/>
              </a:spcBef>
              <a:spcAft>
                <a:spcPts val="0"/>
              </a:spcAft>
              <a:defRPr sz="2664" b="0" i="0">
                <a:solidFill>
                  <a:srgbClr val="11261D"/>
                </a:solidFill>
                <a:latin typeface="Liberation Serif"/>
              </a:defRPr>
            </a:pPr>
            <a:r>
              <a:t>Учебная лента</a:t>
            </a:r>
          </a:p>
          <a:p>
            <a:pPr>
              <a:lnSpc>
                <a:spcPts val="3409"/>
              </a:lnSpc>
              <a:spcBef>
                <a:spcPts val="0"/>
              </a:spcBef>
              <a:spcAft>
                <a:spcPts val="0"/>
              </a:spcAft>
              <a:defRPr sz="2664" b="0" i="0">
                <a:solidFill>
                  <a:srgbClr val="11261D"/>
                </a:solidFill>
                <a:latin typeface="Liberation Serif"/>
              </a:defRPr>
            </a:pPr>
            <a:r>
              <a:t>Потоковый граф</a:t>
            </a:r>
          </a:p>
          <a:p>
            <a:pPr>
              <a:lnSpc>
                <a:spcPts val="3409"/>
              </a:lnSpc>
              <a:spcBef>
                <a:spcPts val="0"/>
              </a:spcBef>
              <a:spcAft>
                <a:spcPts val="0"/>
              </a:spcAft>
              <a:defRPr sz="2664" b="0" i="0">
                <a:solidFill>
                  <a:srgbClr val="11261D"/>
                </a:solidFill>
                <a:latin typeface="Liberation Serif"/>
              </a:defRPr>
            </a:pPr>
            <a:r>
              <a:t>Локальная история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394960"/>
            <a:ext cx="1656135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657468"/>
                </a:solidFill>
                <a:latin typeface="Liberation Sans"/>
              </a:defRPr>
            </a:pPr>
            <a:r>
              <a:t>СЛЕДУЮЩИЕ ЭТАПЫ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806440"/>
            <a:ext cx="4363134" cy="7242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22"/>
              </a:lnSpc>
              <a:spcBef>
                <a:spcPts val="0"/>
              </a:spcBef>
              <a:spcAft>
                <a:spcPts val="0"/>
              </a:spcAft>
              <a:defRPr sz="2016" b="0" i="0">
                <a:solidFill>
                  <a:srgbClr val="214E3A"/>
                </a:solidFill>
                <a:latin typeface="Liberation Sans"/>
              </a:defRPr>
            </a:pPr>
            <a:r>
              <a:t>Реальные API · постоянная память</a:t>
            </a:r>
          </a:p>
          <a:p>
            <a:pPr>
              <a:lnSpc>
                <a:spcPts val="2822"/>
              </a:lnSpc>
              <a:spcBef>
                <a:spcPts val="0"/>
              </a:spcBef>
              <a:spcAft>
                <a:spcPts val="0"/>
              </a:spcAft>
              <a:defRPr sz="2016" b="0" i="0">
                <a:solidFill>
                  <a:srgbClr val="214E3A"/>
                </a:solidFill>
                <a:latin typeface="Liberation Sans"/>
              </a:defRPr>
            </a:pPr>
            <a:r>
              <a:t>Ассоциации · усвоение · адаптация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7022592"/>
            <a:ext cx="414858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57468"/>
                </a:solidFill>
                <a:latin typeface="Liberation Sans"/>
              </a:defRPr>
            </a:pPr>
            <a:r>
              <a:t>ЛОКАЛЬНАЯ ПРОВЕРКА КОДА 47f97e4 · НЕ СТАТУС GITHUB 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DD8B9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11261D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132852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657468"/>
                </a:solidFill>
                <a:latin typeface="Liberation Sans"/>
              </a:defRPr>
            </a:pPr>
            <a:r>
              <a:t>10  /  Завершение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57468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11261D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591056"/>
            <a:ext cx="8113228" cy="21887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305"/>
              </a:lnSpc>
              <a:spcBef>
                <a:spcPts val="0"/>
              </a:spcBef>
              <a:spcAft>
                <a:spcPts val="0"/>
              </a:spcAft>
              <a:defRPr sz="8064" b="0" i="0">
                <a:solidFill>
                  <a:srgbClr val="11261D"/>
                </a:solidFill>
                <a:latin typeface="Liberation Serif"/>
              </a:defRPr>
            </a:pPr>
            <a:r>
              <a:t>Знать больше.</a:t>
            </a:r>
          </a:p>
          <a:p>
            <a:pPr>
              <a:lnSpc>
                <a:spcPts val="8305"/>
              </a:lnSpc>
              <a:spcBef>
                <a:spcPts val="0"/>
              </a:spcBef>
              <a:spcAft>
                <a:spcPts val="0"/>
              </a:spcAft>
              <a:defRPr sz="8064" b="0" i="0">
                <a:solidFill>
                  <a:srgbClr val="11261D"/>
                </a:solidFill>
                <a:latin typeface="Liberation Serif"/>
              </a:defRPr>
            </a:pPr>
            <a:r>
              <a:t>Понимать глубже.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645152"/>
            <a:ext cx="1899907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32"/>
              </a:lnSpc>
              <a:spcBef>
                <a:spcPts val="0"/>
              </a:spcBef>
              <a:spcAft>
                <a:spcPts val="0"/>
              </a:spcAft>
              <a:defRPr sz="3600" b="0" i="0">
                <a:solidFill>
                  <a:srgbClr val="11261D"/>
                </a:solidFill>
                <a:latin typeface="Liberation Serif"/>
              </a:defRPr>
            </a:pPr>
            <a:r>
              <a:t>True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5422392"/>
            <a:ext cx="6801126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41"/>
              </a:lnSpc>
              <a:spcBef>
                <a:spcPts val="0"/>
              </a:spcBef>
              <a:spcAft>
                <a:spcPts val="0"/>
              </a:spcAft>
              <a:defRPr sz="2448" b="0" i="0">
                <a:solidFill>
                  <a:srgbClr val="214E3A"/>
                </a:solidFill>
                <a:latin typeface="Liberation Sans"/>
              </a:defRPr>
            </a:pPr>
            <a:r>
              <a:t>Каждое исследование помогает следующему.</a:t>
            </a:r>
          </a:p>
        </p:txBody>
      </p:sp>
      <p:sp>
        <p:nvSpPr>
          <p:cNvPr id="15" name="Oval 14"/>
          <p:cNvSpPr/>
          <p:nvPr/>
        </p:nvSpPr>
        <p:spPr>
          <a:xfrm>
            <a:off x="768096" y="6629400"/>
            <a:ext cx="109728" cy="109728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574536"/>
            <a:ext cx="1122033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0" i="0">
                <a:solidFill>
                  <a:srgbClr val="214E3A"/>
                </a:solidFill>
                <a:latin typeface="Liberation Sans"/>
              </a:defRPr>
            </a:pPr>
            <a:r>
              <a:t>ПРОВЕРИТЬ</a:t>
            </a:r>
          </a:p>
        </p:txBody>
      </p:sp>
      <p:sp>
        <p:nvSpPr>
          <p:cNvPr id="17" name="Oval 16"/>
          <p:cNvSpPr/>
          <p:nvPr/>
        </p:nvSpPr>
        <p:spPr>
          <a:xfrm>
            <a:off x="5797296" y="6629400"/>
            <a:ext cx="109728" cy="109728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6574536"/>
            <a:ext cx="80233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0" i="0">
                <a:solidFill>
                  <a:srgbClr val="214E3A"/>
                </a:solidFill>
                <a:latin typeface="Liberation Sans"/>
              </a:defRPr>
            </a:pPr>
            <a:r>
              <a:t>ПОНЯТЬ</a:t>
            </a:r>
          </a:p>
        </p:txBody>
      </p:sp>
      <p:sp>
        <p:nvSpPr>
          <p:cNvPr id="19" name="Oval 18"/>
          <p:cNvSpPr/>
          <p:nvPr/>
        </p:nvSpPr>
        <p:spPr>
          <a:xfrm>
            <a:off x="10826496" y="6629400"/>
            <a:ext cx="109728" cy="109728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09960" y="6574536"/>
            <a:ext cx="87498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0" i="0">
                <a:solidFill>
                  <a:srgbClr val="214E3A"/>
                </a:solidFill>
                <a:latin typeface="Liberation Sans"/>
              </a:defRPr>
            </a:pPr>
            <a:r>
              <a:t>СВЯЗАТЬ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6684264"/>
            <a:ext cx="3200400" cy="0"/>
          </a:xfrm>
          <a:prstGeom prst="line">
            <a:avLst/>
          </a:prstGeom>
          <a:ln w="9144">
            <a:solidFill>
              <a:srgbClr val="214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23760" y="6684264"/>
            <a:ext cx="3291840" cy="0"/>
          </a:xfrm>
          <a:prstGeom prst="line">
            <a:avLst/>
          </a:prstGeom>
          <a:ln w="9144">
            <a:solidFill>
              <a:srgbClr val="214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61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F2F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F2F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F2F0E7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18094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A7B9AA"/>
                </a:solidFill>
                <a:latin typeface="Liberation Sans"/>
              </a:defRPr>
            </a:pPr>
            <a:r>
              <a:t>Запасной  /  Архитектура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A7B9AA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F2F0E7"/>
                </a:solidFill>
                <a:latin typeface="Liberation Sans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307592"/>
            <a:ext cx="841289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289"/>
              </a:lnSpc>
              <a:spcBef>
                <a:spcPts val="0"/>
              </a:spcBef>
              <a:spcAft>
                <a:spcPts val="0"/>
              </a:spcAft>
              <a:defRPr sz="5616" b="0" i="0">
                <a:solidFill>
                  <a:srgbClr val="BDD8B9"/>
                </a:solidFill>
                <a:latin typeface="Liberation Serif"/>
              </a:defRPr>
            </a:pPr>
            <a:r>
              <a:t>Память — данные. Не кэш.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2743200"/>
            <a:ext cx="13121640" cy="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926080"/>
            <a:ext cx="33348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4"/>
              </a:lnSpc>
              <a:spcBef>
                <a:spcPts val="0"/>
              </a:spcBef>
              <a:spcAft>
                <a:spcPts val="0"/>
              </a:spcAft>
              <a:defRPr sz="1584" b="0" i="0">
                <a:solidFill>
                  <a:srgbClr val="BDD8B9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89504"/>
            <a:ext cx="1137101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83"/>
              </a:lnSpc>
              <a:spcBef>
                <a:spcPts val="0"/>
              </a:spcBef>
              <a:spcAft>
                <a:spcPts val="0"/>
              </a:spcAft>
              <a:defRPr sz="2664" b="0" i="0">
                <a:solidFill>
                  <a:srgbClr val="F2F0E7"/>
                </a:solidFill>
                <a:latin typeface="Liberation Serif"/>
              </a:defRPr>
            </a:pPr>
            <a:r>
              <a:t>Сейчас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53512"/>
            <a:ext cx="4060177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38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F2F0E7"/>
                </a:solidFill>
                <a:latin typeface="Liberation Sans"/>
              </a:defRPr>
            </a:pPr>
            <a:r>
              <a:t>Compose · Flow · JSON-история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3931920"/>
            <a:ext cx="13121640" cy="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114800"/>
            <a:ext cx="33348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4"/>
              </a:lnSpc>
              <a:spcBef>
                <a:spcPts val="0"/>
              </a:spcBef>
              <a:spcAft>
                <a:spcPts val="0"/>
              </a:spcAft>
              <a:defRPr sz="1584" b="0" i="0">
                <a:solidFill>
                  <a:srgbClr val="BDD8B9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78224"/>
            <a:ext cx="1366728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83"/>
              </a:lnSpc>
              <a:spcBef>
                <a:spcPts val="0"/>
              </a:spcBef>
              <a:spcAft>
                <a:spcPts val="0"/>
              </a:spcAft>
              <a:defRPr sz="2664" b="0" i="0">
                <a:solidFill>
                  <a:srgbClr val="F2F0E7"/>
                </a:solidFill>
                <a:latin typeface="Liberation Serif"/>
              </a:defRPr>
            </a:pPr>
            <a:r>
              <a:t>Этап M1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142232"/>
            <a:ext cx="4448489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38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F2F0E7"/>
                </a:solidFill>
                <a:latin typeface="Liberation Sans"/>
              </a:defRPr>
            </a:pPr>
            <a:r>
              <a:t>Room · filesDir · миграции · экспорт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5120640"/>
            <a:ext cx="13121640" cy="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5303520"/>
            <a:ext cx="333488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4"/>
              </a:lnSpc>
              <a:spcBef>
                <a:spcPts val="0"/>
              </a:spcBef>
              <a:spcAft>
                <a:spcPts val="0"/>
              </a:spcAft>
              <a:defRPr sz="1584" b="0" i="0">
                <a:solidFill>
                  <a:srgbClr val="BDD8B9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66944"/>
            <a:ext cx="1808967" cy="448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83"/>
              </a:lnSpc>
              <a:spcBef>
                <a:spcPts val="0"/>
              </a:spcBef>
              <a:spcAft>
                <a:spcPts val="0"/>
              </a:spcAft>
              <a:defRPr sz="2664" b="0" i="0">
                <a:solidFill>
                  <a:srgbClr val="F2F0E7"/>
                </a:solidFill>
                <a:latin typeface="Liberation Serif"/>
              </a:defRPr>
            </a:pPr>
            <a:r>
              <a:t>Интеграция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330952"/>
            <a:ext cx="5405608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38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F2F0E7"/>
                </a:solidFill>
                <a:latin typeface="Liberation Sans"/>
              </a:defRPr>
            </a:pPr>
            <a:r>
              <a:t>Внешние API · ID задачи · восстановление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6839712"/>
            <a:ext cx="8015733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4"/>
              </a:lnSpc>
              <a:spcBef>
                <a:spcPts val="0"/>
              </a:spcBef>
              <a:spcAft>
                <a:spcPts val="0"/>
              </a:spcAft>
              <a:defRPr sz="1655" b="0" i="0">
                <a:solidFill>
                  <a:srgbClr val="BDD8B9"/>
                </a:solidFill>
                <a:latin typeface="Liberation Sans"/>
              </a:defRPr>
            </a:pPr>
            <a:r>
              <a:t>Очистка кэша не удаляет базу. Удаление приложения требует резервной копии.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1126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112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11261D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167149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657468"/>
                </a:solidFill>
                <a:latin typeface="Liberation Sans"/>
              </a:defRPr>
            </a:pPr>
            <a:r>
              <a:t>Запасной  /  Источники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CC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657468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11261D"/>
                </a:solidFill>
                <a:latin typeface="Liberation Sans"/>
              </a:defRPr>
            </a:pPr>
            <a: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325880"/>
            <a:ext cx="5699676" cy="15905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972"/>
              </a:lnSpc>
              <a:spcBef>
                <a:spcPts val="0"/>
              </a:spcBef>
              <a:spcAft>
                <a:spcPts val="0"/>
              </a:spcAft>
              <a:defRPr sz="5688" b="0" i="0">
                <a:solidFill>
                  <a:srgbClr val="11261D"/>
                </a:solidFill>
                <a:latin typeface="Liberation Serif"/>
              </a:defRPr>
            </a:pPr>
            <a:r>
              <a:t>Каждый эпизод</a:t>
            </a:r>
          </a:p>
          <a:p>
            <a:pPr>
              <a:lnSpc>
                <a:spcPts val="5972"/>
              </a:lnSpc>
              <a:spcBef>
                <a:spcPts val="0"/>
              </a:spcBef>
              <a:spcAft>
                <a:spcPts val="0"/>
              </a:spcAft>
              <a:defRPr sz="5688" b="0" i="0">
                <a:solidFill>
                  <a:srgbClr val="11261D"/>
                </a:solidFill>
                <a:latin typeface="Liberation Serif"/>
              </a:defRPr>
            </a:pPr>
            <a:r>
              <a:t>можно проверить.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783080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2304" b="0" i="0">
                <a:solidFill>
                  <a:srgbClr val="11261D"/>
                </a:solidFill>
                <a:latin typeface="Liberation Serif"/>
              </a:defRPr>
            </a:pPr>
            <a:r>
              <a:t>Утверждение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931920"/>
            <a:ext cx="1464897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2304" b="0" i="0">
                <a:solidFill>
                  <a:srgbClr val="11261D"/>
                </a:solidFill>
                <a:latin typeface="Liberation Serif"/>
              </a:defRPr>
            </a:pPr>
            <a:r>
              <a:t>Основание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931920"/>
            <a:ext cx="1462611" cy="402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2304" b="0" i="0">
                <a:solidFill>
                  <a:srgbClr val="11261D"/>
                </a:solidFill>
                <a:latin typeface="Liberation Serif"/>
              </a:defRPr>
            </a:pPr>
            <a:r>
              <a:t>Пересмотр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736592"/>
            <a:ext cx="13121640" cy="0"/>
          </a:xfrm>
          <a:prstGeom prst="line">
            <a:avLst/>
          </a:prstGeom>
          <a:ln w="18288">
            <a:solidFill>
              <a:srgbClr val="214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67512" y="4672584"/>
            <a:ext cx="128016" cy="128016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13832" y="4672584"/>
            <a:ext cx="128016" cy="128016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51592" y="4672584"/>
            <a:ext cx="128016" cy="128016"/>
          </a:xfrm>
          <a:prstGeom prst="ellipse">
            <a:avLst/>
          </a:prstGeom>
          <a:solidFill>
            <a:srgbClr val="21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11496"/>
            <a:ext cx="2557993" cy="7022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1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657468"/>
                </a:solidFill>
                <a:latin typeface="Liberation Sans"/>
              </a:defRPr>
            </a:pPr>
            <a:r>
              <a:t>Что было сказано.</a:t>
            </a:r>
          </a:p>
          <a:p>
            <a:pPr>
              <a:lnSpc>
                <a:spcPts val="2721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657468"/>
                </a:solidFill>
                <a:latin typeface="Liberation Sans"/>
              </a:defRPr>
            </a:pPr>
            <a:r>
              <a:t>В какой теме и когда.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111496"/>
            <a:ext cx="3455494" cy="7022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1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657468"/>
                </a:solidFill>
                <a:latin typeface="Liberation Sans"/>
              </a:defRPr>
            </a:pPr>
            <a:r>
              <a:t>С чем сопоставили.</a:t>
            </a:r>
          </a:p>
          <a:p>
            <a:pPr>
              <a:lnSpc>
                <a:spcPts val="2721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657468"/>
                </a:solidFill>
                <a:latin typeface="Liberation Sans"/>
              </a:defRPr>
            </a:pPr>
            <a:r>
              <a:t>Как проверили расхождение.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5111496"/>
            <a:ext cx="3168342" cy="7022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21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657468"/>
                </a:solidFill>
                <a:latin typeface="Liberation Sans"/>
              </a:defRPr>
            </a:pPr>
            <a:r>
              <a:t>Что исправлено.</a:t>
            </a:r>
          </a:p>
          <a:p>
            <a:pPr>
              <a:lnSpc>
                <a:spcPts val="2721"/>
              </a:lnSpc>
              <a:spcBef>
                <a:spcPts val="0"/>
              </a:spcBef>
              <a:spcAft>
                <a:spcPts val="0"/>
              </a:spcAft>
              <a:defRPr sz="1943" b="0" i="0">
                <a:solidFill>
                  <a:srgbClr val="657468"/>
                </a:solidFill>
                <a:latin typeface="Liberation Sans"/>
              </a:defRPr>
            </a:pPr>
            <a:r>
              <a:t>Что нужно перепроверить.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748272"/>
            <a:ext cx="8627578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 i="0">
                <a:solidFill>
                  <a:srgbClr val="214E3A"/>
                </a:solidFill>
                <a:latin typeface="Liberation Sans"/>
              </a:defRPr>
            </a:pPr>
            <a:r>
              <a:t>Репутация не заменяет доказательство конкретного утверждения.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61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94944" y="393192"/>
            <a:ext cx="137160" cy="137160"/>
          </a:xfrm>
          <a:prstGeom prst="line">
            <a:avLst/>
          </a:prstGeom>
          <a:ln w="18288">
            <a:solidFill>
              <a:srgbClr val="F2F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32104" y="393192"/>
            <a:ext cx="128016" cy="137160"/>
          </a:xfrm>
          <a:prstGeom prst="line">
            <a:avLst/>
          </a:prstGeom>
          <a:ln w="18288">
            <a:solidFill>
              <a:srgbClr val="F2F0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67512" y="50292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36576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F2F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3856" y="347472"/>
            <a:ext cx="105155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1"/>
              </a:lnSpc>
              <a:spcBef>
                <a:spcPts val="0"/>
              </a:spcBef>
              <a:spcAft>
                <a:spcPts val="0"/>
              </a:spcAft>
              <a:defRPr sz="1296" b="1" i="0">
                <a:solidFill>
                  <a:srgbClr val="F2F0E7"/>
                </a:solidFill>
                <a:latin typeface="Liberation Sans"/>
              </a:defRPr>
            </a:pPr>
            <a:r>
              <a:t>TRUE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365760"/>
            <a:ext cx="213612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90"/>
              </a:lnSpc>
              <a:spcBef>
                <a:spcPts val="0"/>
              </a:spcBef>
              <a:spcAft>
                <a:spcPts val="0"/>
              </a:spcAft>
              <a:defRPr sz="1152" b="0" i="0">
                <a:solidFill>
                  <a:srgbClr val="A7B9AA"/>
                </a:solidFill>
                <a:latin typeface="Liberation Sans"/>
              </a:defRPr>
            </a:pPr>
            <a:r>
              <a:t>Запасной  /  Оценка ценности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7452360"/>
            <a:ext cx="13240512" cy="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7662672"/>
            <a:ext cx="1737543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48"/>
              </a:lnSpc>
              <a:spcBef>
                <a:spcPts val="0"/>
              </a:spcBef>
              <a:spcAft>
                <a:spcPts val="0"/>
              </a:spcAft>
              <a:defRPr sz="936" b="0" i="0">
                <a:solidFill>
                  <a:srgbClr val="A7B9AA"/>
                </a:solidFill>
                <a:latin typeface="Liberation Sans"/>
              </a:defRPr>
            </a:pPr>
            <a:r>
              <a:t>ОТ ОТВЕТА К ПОНИМАНИЮ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78840" y="7616952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F2F0E7"/>
                </a:solidFill>
                <a:latin typeface="Liberation Sans"/>
              </a:defRPr>
            </a:pPr>
            <a: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307592"/>
            <a:ext cx="4637499" cy="16579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215"/>
              </a:lnSpc>
              <a:spcBef>
                <a:spcPts val="0"/>
              </a:spcBef>
              <a:spcAft>
                <a:spcPts val="0"/>
              </a:spcAft>
              <a:defRPr sz="5976" b="0" i="0">
                <a:solidFill>
                  <a:srgbClr val="BDD8B9"/>
                </a:solidFill>
                <a:latin typeface="Liberation Serif"/>
              </a:defRPr>
            </a:pPr>
            <a:r>
              <a:t>Как проверим</a:t>
            </a:r>
          </a:p>
          <a:p>
            <a:pPr>
              <a:lnSpc>
                <a:spcPts val="6215"/>
              </a:lnSpc>
              <a:spcBef>
                <a:spcPts val="0"/>
              </a:spcBef>
              <a:spcAft>
                <a:spcPts val="0"/>
              </a:spcAft>
              <a:defRPr sz="5976" b="0" i="0">
                <a:solidFill>
                  <a:srgbClr val="BDD8B9"/>
                </a:solidFill>
                <a:latin typeface="Liberation Serif"/>
              </a:defRPr>
            </a:pPr>
            <a:r>
              <a:t>результат.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648456"/>
            <a:ext cx="13121640" cy="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822191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BDD8B9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785615"/>
            <a:ext cx="2253281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3"/>
              </a:lnSpc>
              <a:spcBef>
                <a:spcPts val="0"/>
              </a:spcBef>
              <a:spcAft>
                <a:spcPts val="0"/>
              </a:spcAft>
              <a:defRPr sz="2592" b="0" i="0">
                <a:solidFill>
                  <a:srgbClr val="F2F0E7"/>
                </a:solidFill>
                <a:latin typeface="Liberation Serif"/>
              </a:defRPr>
            </a:pPr>
            <a:r>
              <a:t>Проверяемость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4609821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38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F2F0E7"/>
                </a:solidFill>
                <a:latin typeface="Liberation Sans"/>
              </a:defRPr>
            </a:pPr>
            <a:r>
              <a:t>Есть основания. Сохранены версии.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636008"/>
            <a:ext cx="13121640" cy="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809744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BDD8B9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73168"/>
            <a:ext cx="1102584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3"/>
              </a:lnSpc>
              <a:spcBef>
                <a:spcPts val="0"/>
              </a:spcBef>
              <a:spcAft>
                <a:spcPts val="0"/>
              </a:spcAft>
              <a:defRPr sz="2592" b="0" i="0">
                <a:solidFill>
                  <a:srgbClr val="F2F0E7"/>
                </a:solidFill>
                <a:latin typeface="Liberation Serif"/>
              </a:defRPr>
            </a:pPr>
            <a:r>
              <a:t>Польза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828032"/>
            <a:ext cx="4848065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38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F2F0E7"/>
                </a:solidFill>
                <a:latin typeface="Liberation Sans"/>
              </a:defRPr>
            </a:pPr>
            <a:r>
              <a:t>Связь помогает. Знание применяется.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5623560"/>
            <a:ext cx="13121640" cy="0"/>
          </a:xfrm>
          <a:prstGeom prst="line">
            <a:avLst/>
          </a:prstGeom>
          <a:ln w="9144">
            <a:solidFill>
              <a:srgbClr val="3E5C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5797296"/>
            <a:ext cx="323317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93"/>
              </a:lnSpc>
              <a:spcBef>
                <a:spcPts val="0"/>
              </a:spcBef>
              <a:spcAft>
                <a:spcPts val="0"/>
              </a:spcAft>
              <a:defRPr sz="1512" b="0" i="0">
                <a:solidFill>
                  <a:srgbClr val="BDD8B9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760720"/>
            <a:ext cx="1397049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3"/>
              </a:lnSpc>
              <a:spcBef>
                <a:spcPts val="0"/>
              </a:spcBef>
              <a:spcAft>
                <a:spcPts val="0"/>
              </a:spcAft>
              <a:defRPr sz="2592" b="0" i="0">
                <a:solidFill>
                  <a:srgbClr val="F2F0E7"/>
                </a:solidFill>
                <a:latin typeface="Liberation Serif"/>
              </a:defRPr>
            </a:pPr>
            <a:r>
              <a:t>Качество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815584"/>
            <a:ext cx="5328826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38"/>
              </a:lnSpc>
              <a:spcBef>
                <a:spcPts val="0"/>
              </a:spcBef>
              <a:spcAft>
                <a:spcPts val="0"/>
              </a:spcAft>
              <a:defRPr sz="2088" b="0" i="0">
                <a:solidFill>
                  <a:srgbClr val="F2F0E7"/>
                </a:solidFill>
                <a:latin typeface="Liberation Sans"/>
              </a:defRPr>
            </a:pPr>
            <a:r>
              <a:t>Меньше ошибок на независимых случаях.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 Path — от ответа к пониманию</dc:title>
  <dc:subject/>
  <dc:creator>True Path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